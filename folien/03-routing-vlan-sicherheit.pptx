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jacobmenge/Desktop/kurs-26.2b-orga/folienwerkstatt/assets/icons/cloudheld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365760"/>
            <a:ext cx="868680" cy="86868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8016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1"/>
          <p:cNvSpPr/>
          <p:nvPr/>
        </p:nvSpPr>
        <p:spPr>
          <a:xfrm>
            <a:off x="914400" y="1280160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2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THEMA 1 · ABEND 3</a:t>
            </a:r>
            <a:endParaRPr lang="en-US" sz="1200" dirty="0"/>
          </a:p>
        </p:txBody>
      </p:sp>
      <p:sp>
        <p:nvSpPr>
          <p:cNvPr id="5" name="Text 2"/>
          <p:cNvSpPr/>
          <p:nvPr/>
        </p:nvSpPr>
        <p:spPr>
          <a:xfrm>
            <a:off x="914400" y="1682496"/>
            <a:ext cx="7635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Routing, VLAN und Sicherheit</a:t>
            </a:r>
            <a:endParaRPr lang="en-US" sz="3300" dirty="0"/>
          </a:p>
        </p:txBody>
      </p:sp>
      <p:sp>
        <p:nvSpPr>
          <p:cNvPr id="6" name="Text 3"/>
          <p:cNvSpPr/>
          <p:nvPr/>
        </p:nvSpPr>
        <p:spPr>
          <a:xfrm>
            <a:off x="914400" y="2761488"/>
            <a:ext cx="7635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 des Netzwerkblocks – am Ende beantwortet ihr die Frage vom ersten Abend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914400" y="3986784"/>
            <a:ext cx="1828800" cy="0"/>
          </a:xfrm>
          <a:prstGeom prst="line">
            <a:avLst/>
          </a:prstGeom>
          <a:noFill/>
          <a:ln w="12700">
            <a:solidFill>
              <a:srgbClr val="DFE3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4078224"/>
            <a:ext cx="7635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Mittwoch, 2. September 2026 · 18:00–21:00 Uhr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ABLAUF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uns heute Abend erwartet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55648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5564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18:00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72768" y="175564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Warmup: eine Kopfrechenaufgabe von Montag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566928" y="199339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18:10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1572768" y="199339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Routing: Wie ein Paket seinen Weg findet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8912" y="2231136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23113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18:25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72768" y="223113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trennen: VLAN, DMZ und die Firewall dazwischen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66928" y="246888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18:45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572768" y="246888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38912" y="2706624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270662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18:55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72768" y="270662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Zwei Quickchecks: DHCP und DNS – erst raten, dann klicken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66928" y="2944368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19:15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1572768" y="2944368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Briefing für die Breakout-Übung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8912" y="3182112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1" name="Text 19"/>
          <p:cNvSpPr/>
          <p:nvPr/>
        </p:nvSpPr>
        <p:spPr>
          <a:xfrm>
            <a:off x="566928" y="318211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19:25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72768" y="3182112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Breakout: Netzwerk-Notruf – fünf Fälle und ein Bonus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3419856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20:15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572768" y="3419856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Auswertung: eure Diagnosen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38912" y="3657600"/>
            <a:ext cx="8266176" cy="237744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3657600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20:35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572768" y="3657600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Finale: github.com – ihr erzählt, ich klicke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66928" y="389534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20:55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1572768" y="3895344"/>
            <a:ext cx="70043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Blockabschluss und Ausblick auf Montag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66928" y="425196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1" name="Text 29"/>
          <p:cNvSpPr/>
          <p:nvPr/>
        </p:nvSpPr>
        <p:spPr>
          <a:xfrm>
            <a:off x="749808" y="420624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Montag heißt es Virtualisierung – heute machen wir das Netz fertig.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 – 40 SEKUNDEN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Rezept von Montag: Hostbits → Blockgröße → minus zwei.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2/31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Warmup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737360"/>
            <a:ext cx="74615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/27-Netz:</a:t>
            </a:r>
            <a:endParaRPr lang="en-US" sz="26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viele Geräte passen hinein? – 30.</a:t>
            </a:r>
            <a:endParaRPr lang="en-US" sz="2600" dirty="0"/>
          </a:p>
        </p:txBody>
      </p:sp>
      <p:pic>
        <p:nvPicPr>
          <p:cNvPr id="6" name="Image 0" descr="/Users/jacobmenge/Desktop/kurs-26.2b-orga/folienwerkstatt/assets/diagramme/warmup-bi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017520"/>
            <a:ext cx="8010144" cy="87782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32 gesagt hat: willkommen im Klub von Montag – jetzt sitzt es.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Einstieg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3/31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 Weg finden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ein Router wirklich tut, wenn euer Paket ankommt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Wohin mit dem Paket?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Woher weiß der Router, wohin damit? Eure Ideen in den Chat.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4/31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ANTWORT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Wohin mit dem Paket?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proble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06908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2336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hat einen Wegweiser dabei: seine Routing-Tabelle. Die schauen wir uns jetzt an.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5/31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Schaut auf die Tabelle: Welche Zeilen passen auf 172.16.5.7? Antwort in den Chat.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6/31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„Passt“ heißt: Die ersten 16 oder 24 Bits stimmen überein – euer Präfix von Montag. Der längere gewinnt.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7/31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ROUTING-TABELLE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Wie ein Paket seinen Weg findet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routing-weg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319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8862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das passiert an jedem Hop neu – jedem Router auf dem Weg. Deshalb zeigt tracert eine Kette.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8/31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liest dieselbe Ziel-IP aus dem Paketkopf – und fragt damit seine eigene Tabelle.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9/31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liest dieselbe Ziel-IP aus dem Paketkopf – und fragt damit seine eigene Tabelle.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10/31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Jeder Router liest dieselbe Ziel-IP aus dem Paketkopf – und fragt damit seine eigene Tabelle.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11/31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FÜR HOP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Reise eures Pakets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hop-reise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057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Zu Hause losgeschickt, bei github.com angekommen – und tracert zeigt euch jede Station.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12/31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 – IP TRIFFT MAC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 wie erreicht es den Router wirklich?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arp-bi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8010144" cy="25603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arp -a kennt ihr vom ersten Abend – jetzt wisst ihr, was in dieser Tabelle steht.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13/31</a:t>
            </a:r>
            <a:endParaRPr 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6F4F5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Getrennt, obwohl verkabelt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VLAN, DMZ und die Firewall dazwischen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LOGISCHE TRENNUNG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VLAN – ein Switch, mehrere Netze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vlan-switc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63040"/>
            <a:ext cx="8010144" cy="261518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15384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69664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ist die technische Antwort auf euren Subnetz-Plan von Montag: Gäste und Server trennt man nicht nur auf dem Papier.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14/31</a:t>
            </a:r>
            <a:endParaRPr lang="en-US" sz="10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DARF WOHIN?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Zonenmodell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zonen-mod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54480"/>
            <a:ext cx="8010144" cy="2148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05656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059936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Merkt euch das Muster – es kommt beim Sicherheitsblock wieder und trägt jede Infrastrukturplanung.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trennen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15/31</a:t>
            </a:r>
            <a:endParaRPr lang="en-US" sz="10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DHCP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Gerät kommt frisch ins Netz,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noch ohne Adresse. Welche vier Schritte laufen ab?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Laut eurer Standortbestimmung sitzt das – beweist es: erst raten, dann klicke ich.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16/31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DHCP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hcp-do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26464"/>
            <a:ext cx="8010144" cy="2706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270248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22452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Vier Schritte, die euer Rechner bei jedem Netzbeitritt macht – meist in unter einer Sekunde. Die 169.254 seht ihr gleich im Breakout wieder.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17/31</a:t>
            </a:r>
            <a:endParaRPr lang="en-US" sz="10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ANTWORT IN DEN CHAT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DNS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41248" y="1828800"/>
            <a:ext cx="7461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ändert einen DNS-Eintrag –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halbe Welt sieht noch den alten. Warum?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5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Kein Nachschlagen – erst raten, dann klicke ich.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18/31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0F7C8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AUFLÖSUNG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Quickcheck: DNS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dns-tt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572768"/>
            <a:ext cx="8010144" cy="21031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3977640"/>
            <a:ext cx="32004" cy="256032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393192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Cache ist kein Fehler – er macht DNS schnell. Nur beim Umziehen heißt es: TTL abwarten.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Quickcheck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19/31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FBF2E3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Netzwerk-Notruf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 Minuten in Gruppen – fünf Anrufe, fünf Diagnosen, ein Bonus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 · 50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Auftrag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Störungsmeldungen, zu jeder ein paar echte Befehlsausgaben. Ihr benennt Schicht, Ursache und Fix – die Checkliste führt euch.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38912" y="193852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385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435608" y="193852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„Ich komme nirgendwo hin“ – der Klassiker zum Warmwerden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21284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1435608" y="221284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„Webseiten gehen nicht, aber …“ – genau hinsehen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38912" y="248716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24871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1435608" y="248716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„Nur das Internet fehlt“ – Montag hilft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66928" y="276148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1435608" y="276148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„Komische Adresse“ – Montag hilft sehr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" y="3035808"/>
            <a:ext cx="8266176" cy="27432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" y="303580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435608" y="303580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„Server pingt, aber die App nicht“ – der Mittwochsfall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566928" y="331012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A631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435608" y="3310128"/>
            <a:ext cx="7141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„Der Neue kommt nicht an die Ablage“ – für schnelle Gruppen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566928" y="3621024"/>
            <a:ext cx="8010144" cy="841248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22" name="Shape 20"/>
          <p:cNvSpPr/>
          <p:nvPr/>
        </p:nvSpPr>
        <p:spPr>
          <a:xfrm>
            <a:off x="566928" y="3621024"/>
            <a:ext cx="41148" cy="841248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23" name="Text 21"/>
          <p:cNvSpPr/>
          <p:nvPr/>
        </p:nvSpPr>
        <p:spPr>
          <a:xfrm>
            <a:off x="804672" y="3767328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Jetzt öffnen – beides braucht ihr gleich im Raum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804672" y="4055110"/>
            <a:ext cx="7607808" cy="288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Fälle und Checkliste:  jacobmenge.github.io/kurs-unterlagen/netzwerke/praxis-netzwerk-notruf/</a:t>
            </a:r>
            <a:endParaRPr lang="en-US" sz="1050" dirty="0"/>
          </a:p>
          <a:p>
            <a:pPr indent="0" marL="0">
              <a:lnSpc>
                <a:spcPct val="92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Diagnosen eintragen:  &lt;Link zum Ergebnis-Dokument hier eintragen&gt;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20/31</a:t>
            </a:r>
            <a:endParaRPr lang="en-US" sz="10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SPIELREGELN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arbeitet ihr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8010144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Gleiche Gruppen, gleiche Sprecher. Eine Person teilt den Bildschirm.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Arbeitet die Checkliste von unten nach oben ab – sie ist euer Werkzeug, nicht eure Fessel.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 Fall festhalten: Schicht, Beweis aus der Ausgabe, Ursache, Fix – ein Satz je Punkt reicht.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Hilfekarten erst nach ehrlichem Versuch. Die Lösungen bleiben zu, bis wir auswerten.</a:t>
            </a:r>
            <a:endParaRPr lang="en-US" sz="1250" dirty="0"/>
          </a:p>
          <a:p>
            <a:pPr indent="0" marL="0">
              <a:lnSpc>
                <a:spcPct val="92000"/>
              </a:lnSpc>
              <a:buNone/>
            </a:pPr>
            <a:r>
              <a:rPr lang="en-US" sz="1250" b="1" dirty="0">
                <a:solidFill>
                  <a:srgbClr val="9A63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▸   </a:t>
            </a:r>
            <a:pPr indent="0" marL="0">
              <a:lnSpc>
                <a:spcPct val="92000"/>
              </a:lnSpc>
              <a:spcAft>
                <a:spcPts val="900"/>
              </a:spcAft>
              <a:buNone/>
            </a:pPr>
            <a:r>
              <a:rPr lang="en-US" sz="12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Wenn es klemmt: in eurem Raum auf „Um Hilfe bitten“ klicken.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3602736"/>
            <a:ext cx="8010144" cy="822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3602736"/>
            <a:ext cx="41148" cy="822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3749040"/>
            <a:ext cx="7607808" cy="2420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20:15 sind alle wieder hier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4036822"/>
            <a:ext cx="7607808" cy="270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übernimmt in der Auswertung einen Fall – bearbeitet trotzdem alle fünf. Der Bonus-Fall ist die Kür für Schnelle.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Breakout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21/31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 · 20 MINUTEN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Diagnosen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92224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92224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78408" y="1792224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Jede Gruppe stellt ihren Fall vor: Schicht, Beweis, Ursache, Fix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66928" y="2194560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78408" y="2194560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Plenum prüft: Hätte ein anderer Befehl schneller ans Ziel geführt?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" y="2596896"/>
            <a:ext cx="8266176" cy="402336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596896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78408" y="2596896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Der fünfte Fall gemeinsam – wer hat ihn geknackt?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66928" y="2999232"/>
            <a:ext cx="4114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78408" y="2999232"/>
            <a:ext cx="75986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Dann die Auflösungstabelle – und die Fälle, wo Montag geholfen hat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3749040"/>
            <a:ext cx="8010144" cy="60350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6" name="Shape 14"/>
          <p:cNvSpPr/>
          <p:nvPr/>
        </p:nvSpPr>
        <p:spPr>
          <a:xfrm>
            <a:off x="566928" y="3749040"/>
            <a:ext cx="41148" cy="60350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7" name="Text 15"/>
          <p:cNvSpPr/>
          <p:nvPr/>
        </p:nvSpPr>
        <p:spPr>
          <a:xfrm>
            <a:off x="804672" y="3895344"/>
            <a:ext cx="760780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Diagnose zählt mehr als der Fix: Wer die Schicht sauber belegt hat, bekommt den Rest geschenkt.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22/31</a:t>
            </a:r>
            <a:endParaRPr 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Auflösung der fünf Fälle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38912" y="1700784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70078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1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1435608" y="1700784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APIPA, kein DHCP erreichbar – Symptom auf 3, Ursache dahinter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566928" y="20482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2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1435608" y="2048256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DNS antwortet nicht – IP-Ping läuft, Namen sterben (Schicht 7)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8912" y="2395728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239572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3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435608" y="2395728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Falsches Default-Gateway – lokal alles gut, draußen nichts (Schicht 3)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66928" y="274320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4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435608" y="2743200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Falsche Subnetzmaske /24 statt /25 – der Montags-Fall in freier Wildbahn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8912" y="3090672"/>
            <a:ext cx="8266176" cy="347472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0906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 5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435608" y="3090672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Firewall blockt den Port – ping ja, Dienst nein (Schicht 4)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343814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43A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Bonus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435608" y="3438144"/>
            <a:ext cx="7141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 im falschen VLAN – die Gäste-Adresse aus dem DHCP verrät es (Schicht 2)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21" name="Text 19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Fünf Pflichtfälle, ein Bonus – und jedes Mal hat die Checkliste den Weg gezeigt, nicht das Raten.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Auswertung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23/31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5080" y="0"/>
            <a:ext cx="2788920" cy="5143500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3" name="Shape 1"/>
          <p:cNvSpPr/>
          <p:nvPr/>
        </p:nvSpPr>
        <p:spPr>
          <a:xfrm>
            <a:off x="6355080" y="0"/>
            <a:ext cx="45720" cy="514350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4" name="Text 2"/>
          <p:cNvSpPr/>
          <p:nvPr/>
        </p:nvSpPr>
        <p:spPr>
          <a:xfrm>
            <a:off x="6629400" y="1463040"/>
            <a:ext cx="2194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400" dirty="0"/>
          </a:p>
        </p:txBody>
      </p:sp>
      <p:sp>
        <p:nvSpPr>
          <p:cNvPr id="5" name="Shape 3"/>
          <p:cNvSpPr/>
          <p:nvPr/>
        </p:nvSpPr>
        <p:spPr>
          <a:xfrm>
            <a:off x="566928" y="1883664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2084832"/>
            <a:ext cx="53949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566928" y="3017520"/>
            <a:ext cx="5394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passiert, wenn ich github.com eintippe? Ihr erzählt – ich klicke.</a:t>
            </a:r>
            <a:endParaRPr lang="en-US" sz="13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EURE ANTWORT, STATION FÜR STATION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24/31</a:t>
            </a:r>
            <a:endParaRPr lang="en-US" sz="10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1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25/31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2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26/31</a:t>
            </a:r>
            <a:endParaRPr lang="en-US" sz="10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3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27/31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4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28/31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 5 VON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Leitfrage vom ersten Abend</a:t>
            </a:r>
            <a:endParaRPr lang="en-US" sz="2600" dirty="0"/>
          </a:p>
        </p:txBody>
      </p:sp>
      <p:pic>
        <p:nvPicPr>
          <p:cNvPr id="5" name="Image 0" descr="/Users/jacobmenge/Desktop/kurs-26.2b-orga/folienwerkstatt/assets/diagramme/weg-github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600200"/>
            <a:ext cx="8010144" cy="22860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6928" y="4178808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4"/>
          <p:cNvSpPr/>
          <p:nvPr/>
        </p:nvSpPr>
        <p:spPr>
          <a:xfrm>
            <a:off x="749808" y="4133088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Vom ersten Abend bis heute: Modell, Adressen, Weg, Trennung – alles steckt in dieser einen Antwort.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 Finale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29/31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ABENDE, EIN WERKZEUGKASTEN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Was der Netzwerkblock euch gegeben hat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669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1783080"/>
            <a:ext cx="41148" cy="196596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Raster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Die Schichten als Suchraster: von unten nach oben, jeder Befehl beweist seine Schicht. Heute habt ihr fünf echte Fälle so gelöst.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101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0" name="Shape 8"/>
          <p:cNvSpPr/>
          <p:nvPr/>
        </p:nvSpPr>
        <p:spPr>
          <a:xfrm>
            <a:off x="3310128" y="1783080"/>
            <a:ext cx="41148" cy="1965960"/>
          </a:xfrm>
          <a:prstGeom prst="rect">
            <a:avLst/>
          </a:prstGeom>
          <a:solidFill>
            <a:srgbClr val="0F7C86"/>
          </a:solidFill>
          <a:ln/>
        </p:spPr>
      </p:sp>
      <p:sp>
        <p:nvSpPr>
          <p:cNvPr id="11" name="Text 9"/>
          <p:cNvSpPr/>
          <p:nvPr/>
        </p:nvSpPr>
        <p:spPr>
          <a:xfrm>
            <a:off x="35478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Handwerk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5478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Subnetze rechnen und Netze planen – Maske, Blockgröße, minus zwei. Das tragt ihr in jede Infrastruktur, die noch kommt.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53328" y="1783080"/>
            <a:ext cx="2523744" cy="196596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4" name="Shape 12"/>
          <p:cNvSpPr/>
          <p:nvPr/>
        </p:nvSpPr>
        <p:spPr>
          <a:xfrm>
            <a:off x="6053328" y="1783080"/>
            <a:ext cx="41148" cy="1965960"/>
          </a:xfrm>
          <a:prstGeom prst="rect">
            <a:avLst/>
          </a:prstGeom>
          <a:solidFill>
            <a:srgbClr val="9A6310"/>
          </a:solidFill>
          <a:ln/>
        </p:spPr>
      </p:sp>
      <p:sp>
        <p:nvSpPr>
          <p:cNvPr id="15" name="Text 13"/>
          <p:cNvSpPr/>
          <p:nvPr/>
        </p:nvSpPr>
        <p:spPr>
          <a:xfrm>
            <a:off x="6291072" y="1929384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Ein Muster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91072" y="2231136"/>
            <a:ext cx="2121408" cy="1399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0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Netze trennt man mit Absicht: VLAN, DMZ, Firewall-Regeln. Das Zonenmodell seht ihr im Sicherheitsblock wieder.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3877056"/>
            <a:ext cx="8010144" cy="512064"/>
          </a:xfrm>
          <a:prstGeom prst="rect">
            <a:avLst/>
          </a:prstGeom>
          <a:solidFill>
            <a:srgbClr val="EEF0FB"/>
          </a:solidFill>
          <a:ln/>
        </p:spPr>
      </p:sp>
      <p:sp>
        <p:nvSpPr>
          <p:cNvPr id="18" name="Shape 16"/>
          <p:cNvSpPr/>
          <p:nvPr/>
        </p:nvSpPr>
        <p:spPr>
          <a:xfrm>
            <a:off x="566928" y="3877056"/>
            <a:ext cx="41148" cy="512064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023360"/>
            <a:ext cx="7607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Alles bleibt online zum Nachschlagen – inklusive der Seiten, die wir nicht gemeinsam behandelt haben.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30/31</a:t>
            </a:r>
            <a:endParaRPr lang="en-US" sz="105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01168"/>
            <a:ext cx="475488" cy="5029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80101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80" kern="0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AUSBLICK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731520"/>
            <a:ext cx="80101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Bis Montag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66928" y="1444752"/>
            <a:ext cx="801014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 Montag bauen wir – der Netzwerkblock ist geschafft.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Virtualisierung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046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Hypervisor, virtuelle Maschinen, virtuelle Netze – und ihr startet eure erste eigene VM. Das Werkzeug dafür richten wir gemeinsam ein.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3101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1" name="Shape 9"/>
          <p:cNvSpPr/>
          <p:nvPr/>
        </p:nvSpPr>
        <p:spPr>
          <a:xfrm>
            <a:off x="33101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2" name="Text 10"/>
          <p:cNvSpPr/>
          <p:nvPr/>
        </p:nvSpPr>
        <p:spPr>
          <a:xfrm>
            <a:off x="35478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Nichts vorbereiten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5478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Ihr braucht nur euren Rechner. Wer mag, liest vorab die Seite „Virtualisierung“ auf der Kursseite an – Pflicht ist das nicht.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053328" y="1975104"/>
            <a:ext cx="2523744" cy="1920240"/>
          </a:xfrm>
          <a:prstGeom prst="rect">
            <a:avLst/>
          </a:prstGeom>
          <a:solidFill>
            <a:srgbClr val="F5F6FC"/>
          </a:solidFill>
          <a:ln/>
        </p:spPr>
      </p:sp>
      <p:sp>
        <p:nvSpPr>
          <p:cNvPr id="15" name="Shape 13"/>
          <p:cNvSpPr/>
          <p:nvPr/>
        </p:nvSpPr>
        <p:spPr>
          <a:xfrm>
            <a:off x="6053328" y="1975104"/>
            <a:ext cx="41148" cy="1920240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6" name="Text 14"/>
          <p:cNvSpPr/>
          <p:nvPr/>
        </p:nvSpPr>
        <p:spPr>
          <a:xfrm>
            <a:off x="6291072" y="2121408"/>
            <a:ext cx="2121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Offene Rechnungen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91072" y="2423160"/>
            <a:ext cx="212140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2000"/>
              </a:lnSpc>
              <a:buNone/>
            </a:pPr>
            <a:r>
              <a:rPr lang="en-US" sz="1150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 bei den Fällen 3 und 4 geschwommen ist: Die Montags-Seiten zu Adressierung und Routing schließen die Lücke.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160520"/>
            <a:ext cx="32004" cy="256032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19" name="Text 17"/>
          <p:cNvSpPr/>
          <p:nvPr/>
        </p:nvSpPr>
        <p:spPr>
          <a:xfrm>
            <a:off x="749808" y="4114800"/>
            <a:ext cx="78272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434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Nächster Termin: Montag, 7. September, 18:00 Uhr – Virtualisierung.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631436"/>
            <a:ext cx="8010144" cy="0"/>
          </a:xfrm>
          <a:prstGeom prst="line">
            <a:avLst/>
          </a:prstGeom>
          <a:noFill/>
          <a:ln w="9525">
            <a:solidFill>
              <a:srgbClr val="DFE3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66928" y="4722876"/>
            <a:ext cx="5029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30" kern="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Abschluss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028432" y="4722876"/>
            <a:ext cx="548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31/31</a:t>
            </a:r>
            <a:endParaRPr lang="en-US" sz="105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5F6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15484"/>
            <a:ext cx="9144000" cy="128016"/>
          </a:xfrm>
          <a:prstGeom prst="rect">
            <a:avLst/>
          </a:prstGeom>
          <a:solidFill>
            <a:srgbClr val="3843A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828800"/>
            <a:ext cx="8010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72E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Netzwerkblock: geschafft.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66928" y="2788920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63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Drei Abende, zwei Übungen, eine beantwortete Leitfrage – alles zum Nachlesen auf der Kursseite.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66928" y="3401568"/>
            <a:ext cx="80101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843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Montag, 7. September · Virtualisierung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Routing, VLAN und Sicherheit</dc:title>
  <dc:subject>Abend 3 im Themenblock Planung, Konzeptionierung, Integration</dc:subject>
  <dc:creator>Jacob Menge</dc:creator>
  <cp:lastModifiedBy>Jacob Menge</cp:lastModifiedBy>
  <cp:revision>1</cp:revision>
  <dcterms:created xsi:type="dcterms:W3CDTF">2026-09-03T17:56:00Z</dcterms:created>
  <dcterms:modified xsi:type="dcterms:W3CDTF">2026-09-03T17:56:00Z</dcterms:modified>
</cp:coreProperties>
</file>