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unterlagen/folien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KURSSTART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Herzlich willkommen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Geprüfter Berufsspezialist für Systemintegration und Vernetzung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Orientierungsabend · 24.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geht es noch nicht um Technik, sondern um euch, mich und den Weg bis zur Prüfung.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75104"/>
            <a:ext cx="8266176" cy="26060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75104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72768" y="1975104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Ankommen, Technik-Check, Begrüßung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235708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72768" y="2235708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bin ich – und wofür ihr mich ansprechen könnt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496312"/>
            <a:ext cx="8266176" cy="26060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96312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2496312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Partner-Interview in Zweiergruppen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756916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756916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Vorstellungsrunde: ihr stellt euch gegenseitig vor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017520"/>
            <a:ext cx="8266176" cy="26060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017520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3017520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278124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72768" y="3278124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Weg bis zur Prüfung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3538728"/>
            <a:ext cx="8266176" cy="26060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538728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72768" y="3538728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wir zusammenarbeiten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3799332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3799332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Fragen und Ausblick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12394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07822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könnt ihr jederzeit dazwischen stellen – dafür ist der Abend da.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Orientierung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1/19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VORSTELLUNG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euch durch den Kurs begleitet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5780" y="1440180"/>
            <a:ext cx="2048256" cy="2048256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6" name="Image 0" descr="/Users/jacobmenge/Desktop/kurs-unterlagen/folien/assets/jaco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81328"/>
            <a:ext cx="1965960" cy="1965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88920" y="137160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Jacob Menge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2788920" y="18470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IT-Dozent · DevOps, Cloud und Linux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88920" y="2267712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Informatik studiert, davor Software-Entwicklung in der Forschung – am Alfred-Wegener-Institut und im KI-Transfer-Zentrum.</a:t>
            </a: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 2023 in der IT-Weiterbildung, heute freiberuflich.</a:t>
            </a: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Schwerpunkte: AWS und Azure, Container, CI/CD und Linux.</a:t>
            </a: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AEVO-Ausbildereignung, AWS-zertifiziert, Erfahrung mit IHK-Prüfungen.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3913632"/>
            <a:ext cx="8010144" cy="58521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3913632"/>
            <a:ext cx="41148" cy="5852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4059936"/>
            <a:ext cx="7607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 der IT: Krav Maga, eine WG mit meinen besten Freunden – und kurze Videos über Themen, die mich faszinieren.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Orientierung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ROLLE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Wofür ihr mich ansprechen könnt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unterrichte den fachlichen Schwerpunkt – die Spezialisierung Systemintegration und Vernetzung.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8745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8745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Fachlich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Netzwerke, Virtualisierung, Container, Betrieb, Monitoring und IT-Sicherheit. Fragt lieber einmal zu viel als zu wenig.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8745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8745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 Prüfung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drankommt, wie die Aufgaben aussehen, worauf ihr beim Lernen achten solltet und wie ihr euer Präsentationsthema findet.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8745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8745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hakt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ihr im Stoff hängt, etwas verpasst habt oder das Tempo nicht passt: sagt Bescheid. Ich kann nur nachsteuern, wenn ich es weiß.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Organisatorisches läuft über Cloudhelden – dazu später mehr.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Orientierung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3/19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wer seid ihr?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im Gespräch zu zweit, dann stellt ihr euch gegenseitig vor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SCHRITT 1 · ETWA 15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Partner-Interview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teile euch in Zweiergruppen auf. Interviewt euch gegenseitig – gleich stellt ihr die andere Person vor.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8953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65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Fragt euch zum Beispiel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349300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bist du, und wo sitzt du gerade?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machst du beruflich?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hattest du bisher mit IT, Servern oder Cloud zu tun?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machst du diesen Kurs – was soll danach anders sein?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1728" y="1975104"/>
            <a:ext cx="38953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975104"/>
            <a:ext cx="41148" cy="1965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klappt 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441448"/>
            <a:ext cx="349300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Etwa 7 Minuten pro Person – wechselt nach der Hälfte.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Macht euch ein paar Stichpunkte, das hilft gleich beim Vorstellen.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Geht auch gern über die Fragen hinaus.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ungerader Zahl gibt es eine Dreiergruppe – dort stellt reihum jeder seinen linken Nachbarn vor.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Kennenlernen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4/19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SCHRITT 2 · ETWA 30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Vorstellungsrunde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Zurück im Plenum stellt jede Person ihren Interview-Partner vor – nicht sich selbst.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75104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 45 Sekunden pro Vorstellung – Name, Beruf, IT-Hintergrund, Ziel im Kurs.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vorgestellte Person darf danach kurz ergänzen oder richtigstellen.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kein Falsch: Manche kommen aus der IT, andere steigen gerade erst ein.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401568"/>
            <a:ext cx="8010144" cy="98755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3401568"/>
            <a:ext cx="41148" cy="98755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547872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so herum?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3849624"/>
            <a:ext cx="7607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 jemand anderen zu sprechen ist leichter als über sich selbst – und wer zuhören muss, lernt sein Gegenüber wirklich kennen.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Kennenlernen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5/19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führt das alles hin?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bis zur Prüfung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ABSCHLUSS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ihr am Ende in der Hand habt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bundesweit anerkannter IHK-Fortbildungsabschluss.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7510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DQR 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66928" y="270662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Stufe der höher-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qualifizierenden Berufsbildung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46120" y="197510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46120" y="270662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Stunden Lernumfang laut Verordnung 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 und Selbststudium zusammen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0" y="197510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0" y="270662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Qualifikationsschwerpunkte,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in der Prüfung vorkommen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weist nach, dass ihr Systeme eigenständig planen, integrieren und betreiben könnt.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Kurs besteht aus drei Teilen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davon unterrichtet eine andere Lehrkraft – ihr habt also nicht nur mich.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2011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201168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21214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Spezialisierung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98448" y="2459736"/>
            <a:ext cx="16276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und Integration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Laufender Betrieb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 und IT-Sicherheit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machen wir zusammen.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1975104"/>
            <a:ext cx="2523744" cy="2011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0128" y="1975104"/>
            <a:ext cx="41148" cy="201168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5478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41648" y="21214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IT-Recht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41648" y="2459736"/>
            <a:ext cx="16276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Organisatorische und rechtliche Vorgaben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Datenschutz, Verträge, Compliance.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1975104"/>
            <a:ext cx="2523744" cy="2011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53328" y="1975104"/>
            <a:ext cx="41148" cy="201168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84848" y="2121408"/>
            <a:ext cx="1627632" cy="440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Projektmanagement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84848" y="2607310"/>
            <a:ext cx="1627632" cy="126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Projektunterstützung und -koordination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Planung, Kalkulation, Controlling.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Prüfung kommen alle drei vor – auch Recht und Projektmanagement.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7/19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SPEZIALISIERUNG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gemeinsamer Teil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Themen, die aufeinander aufbauen – vom Planen über das Betreiben bis zum Absichern.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212140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Planen und integrieren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2606040"/>
            <a:ext cx="1627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Netzwerke, Virtualisierung, Container, Speicher, Ressourcen, Lizenzen – wie entsteht eine Infrastruktur?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5478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41648" y="212140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 sicherstellen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41648" y="2606040"/>
            <a:ext cx="1627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Ausfallsicherheit, Backup und Wiederanlauf, Monitoring, Betriebsdaten, Softwareverteilung und Orchestrierung.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84848" y="212140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 und Sicherheit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84848" y="2606040"/>
            <a:ext cx="1627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Risiken bewerten, Sicherheitskonzepte, Umgang mit Vorfällen, Tests, Optimierung und die Übergabe an Anwender.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 davon üben wir praktisch – an echten Systemen, nicht nur auf Folien.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8/19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ZEITPLAN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grobe Fahrplan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genaue Themenplan entsteht unterwegs – der Rahmen steht aber schon: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70432" y="2697480"/>
            <a:ext cx="6803136" cy="0"/>
          </a:xfrm>
          <a:prstGeom prst="line">
            <a:avLst/>
          </a:prstGeom>
          <a:noFill/>
          <a:ln w="25400">
            <a:solidFill>
              <a:srgbClr val="DF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" y="2619756"/>
            <a:ext cx="155448" cy="155448"/>
          </a:xfrm>
          <a:prstGeom prst="ellipse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Grundlagen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3335" y="2619756"/>
            <a:ext cx="155448" cy="155448"/>
          </a:xfrm>
          <a:prstGeom prst="ellipse">
            <a:avLst/>
          </a:prstGeom>
          <a:solidFill>
            <a:srgbClr val="3843AF"/>
          </a:solidFill>
          <a:ln/>
        </p:spPr>
      </p:sp>
      <p:sp>
        <p:nvSpPr>
          <p:cNvPr id="11" name="Text 9"/>
          <p:cNvSpPr/>
          <p:nvPr/>
        </p:nvSpPr>
        <p:spPr>
          <a:xfrm>
            <a:off x="1927555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27555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13962" y="2619756"/>
            <a:ext cx="155448" cy="155448"/>
          </a:xfrm>
          <a:prstGeom prst="ellipse">
            <a:avLst/>
          </a:prstGeom>
          <a:solidFill>
            <a:srgbClr val="3843AF"/>
          </a:solidFill>
          <a:ln/>
        </p:spPr>
      </p:sp>
      <p:sp>
        <p:nvSpPr>
          <p:cNvPr id="14" name="Text 12"/>
          <p:cNvSpPr/>
          <p:nvPr/>
        </p:nvSpPr>
        <p:spPr>
          <a:xfrm>
            <a:off x="3288182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88182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Laufender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74590" y="2619756"/>
            <a:ext cx="155448" cy="155448"/>
          </a:xfrm>
          <a:prstGeom prst="ellipse">
            <a:avLst/>
          </a:prstGeom>
          <a:solidFill>
            <a:srgbClr val="3843AF"/>
          </a:solidFill>
          <a:ln/>
        </p:spPr>
      </p:sp>
      <p:sp>
        <p:nvSpPr>
          <p:cNvPr id="17" name="Text 15"/>
          <p:cNvSpPr/>
          <p:nvPr/>
        </p:nvSpPr>
        <p:spPr>
          <a:xfrm>
            <a:off x="4648810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48810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 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5217" y="2619756"/>
            <a:ext cx="155448" cy="155448"/>
          </a:xfrm>
          <a:prstGeom prst="ellipse">
            <a:avLst/>
          </a:prstGeom>
          <a:solidFill>
            <a:srgbClr val="3843AF"/>
          </a:solidFill>
          <a:ln/>
        </p:spPr>
      </p:sp>
      <p:sp>
        <p:nvSpPr>
          <p:cNvPr id="20" name="Text 18"/>
          <p:cNvSpPr/>
          <p:nvPr/>
        </p:nvSpPr>
        <p:spPr>
          <a:xfrm>
            <a:off x="6009437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RECHT+PM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09437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Lehrkraft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95844" y="2619756"/>
            <a:ext cx="155448" cy="155448"/>
          </a:xfrm>
          <a:prstGeom prst="ellipse">
            <a:avLst/>
          </a:prstGeom>
          <a:solidFill>
            <a:srgbClr val="B33A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PRÜFUNG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70064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März 2027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schriftlich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49040"/>
            <a:ext cx="8010144" cy="6400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749040"/>
            <a:ext cx="41148" cy="64008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895344"/>
            <a:ext cx="7607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 der schriftlichen Prüfung gibt es zusätzlich eine freiwillige, intensive Prüfungsvorbereitung. Die Teilnahme lohnt sich.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9/19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Womit ihr arbeiten werdet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Werkzeuge, die euch im Kurs begegnen – ihr müsst nichts davon vorher können.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Planung &amp; Integration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231136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8" name="Image 0" descr="/Users/jacobmenge/Desktop/kurs-unterlagen/folien/assets/icons/wireshark-1679A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3042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223113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Netzwerk-Werkzeuge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71576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11" name="Image 1" descr="/Users/jacobmenge/Desktop/kurs-unterlagen/folien/assets/icons/ubuntu-E954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7889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2416" y="27157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&amp; Multipass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320040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14" name="Image 2" descr="/Users/jacobmenge/Desktop/kurs-unterlagen/folien/assets/icons/docker-2496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27355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2416" y="320040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Compose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6928" y="368503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17" name="Image 3" descr="/Users/jacobmenge/Desktop/kurs-unterlagen/folien/assets/icons/mqtt-6600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75818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2416" y="36850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&amp; IoT-Protokolle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329184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2 · Laufender Betrieb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91840" y="2231136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21" name="Image 4" descr="/Users/jacobmenge/Desktop/kurs-unterlagen/folien/assets/icons/kubernetes-326C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230428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67328" y="223113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&amp; Helm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3291840" y="271576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24" name="Image 5" descr="/Users/jacobmenge/Desktop/kurs-unterlagen/folien/assets/icons/terraform-844FB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856" y="2788920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767328" y="27157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3291840" y="320040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27" name="Image 6" descr="/Users/jacobmenge/Desktop/kurs-unterlagen/folien/assets/icons/grafana-F468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3273552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767328" y="320040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&amp; Grafana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3291840" y="368503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30" name="Image 7" descr="/Users/jacobmenge/Desktop/kurs-unterlagen/folien/assets/icons/githubactions-2088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3758184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767328" y="36850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 Actions</a:t>
            </a:r>
            <a:endParaRPr lang="en-US" sz="1150" dirty="0"/>
          </a:p>
        </p:txBody>
      </p:sp>
      <p:sp>
        <p:nvSpPr>
          <p:cNvPr id="32" name="Text 22"/>
          <p:cNvSpPr/>
          <p:nvPr/>
        </p:nvSpPr>
        <p:spPr>
          <a:xfrm>
            <a:off x="6016752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3 · Qualität &amp; Sicherheit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6016752" y="2231136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34" name="Image 8" descr="/Users/jacobmenge/Desktop/kurs-unterlagen/folien/assets/icons/trivy-1904D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2304288"/>
            <a:ext cx="237744" cy="23774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492240" y="223113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Image-Scanner</a:t>
            </a:r>
            <a:endParaRPr lang="en-US" sz="1150" dirty="0"/>
          </a:p>
        </p:txBody>
      </p:sp>
      <p:sp>
        <p:nvSpPr>
          <p:cNvPr id="36" name="Shape 25"/>
          <p:cNvSpPr/>
          <p:nvPr/>
        </p:nvSpPr>
        <p:spPr>
          <a:xfrm>
            <a:off x="6016752" y="271576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6181344" y="271576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Testverfahren &amp; Testpläne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6016752" y="320040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181344" y="320040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Risikoanalyse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6016752" y="368503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6181344" y="368503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Fallübungen &amp; Simulationen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566928" y="428853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3" name="Text 32"/>
          <p:cNvSpPr/>
          <p:nvPr/>
        </p:nvSpPr>
        <p:spPr>
          <a:xfrm>
            <a:off x="749808" y="42428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Dazu AWS-Cloud-Übungen über euren Pluralsight-Zugang. Alles wird gemeinsam eingerichtet.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46" name="Text 3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10/19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PLURALSIGHT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zum Anfassen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bekommt einen Zugang zu Pluralsight – dort arbeitet ihr in echten Cloud-Umgebungen.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8" name="Image 0" descr="/Users/jacobmenge/Desktop/kurs-unterlagen/folien/assets/icons/pluralsight-F15B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21031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1214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ist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Lernplattform mit geführten Übungen in einer echten Cloud-Umgebung.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bekommt einen Zugang gestellt und arbeitet dort in eurem Tempo.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817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46817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3" name="Text 10"/>
          <p:cNvSpPr/>
          <p:nvPr/>
        </p:nvSpPr>
        <p:spPr>
          <a:xfrm>
            <a:off x="49194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Wofür wir es nutzen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194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und andere Cloud-Dienste ausprobieren, ohne eigenes Konto und ohne Kostenrisiko.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für Themen, die auf dem eigenen Rechner nicht funktionieren.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Zugangsdaten bekommt ihr über Cloudhelden.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11/19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PRÜFUNGSFORMAT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schriftliche Prüfung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18. März 2027. Keine Wissensabfrage, sondern ein Fall aus dem Betrieb, den ihr durchdenkt und löst.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75104"/>
            <a:ext cx="80101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Grundlage ist die Beschreibung einer betrieblichen Situation.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Daraus zwei Aufgaben – je mindestens 90 Minuten, zusammen höchstens 240.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Aufgabe berührt alle fünf Schwerpunkte, auch Recht und Projektmanagement.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entwickelt eigene Lösungen und begründet sie. Selten gibt es nur einen richtigen Weg.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675888"/>
            <a:ext cx="8010144" cy="7132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3675888"/>
            <a:ext cx="41148" cy="7132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822192"/>
            <a:ext cx="7607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Deshalb arbeiten wir im Kurs viel mit Szenarien: „Ein Betrieb hat folgendes Problem – was schlagt ihr vor, und warum?"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12/19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PRÜFUNGSFORMAT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mündliche Prüfung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besteht aus zwei Teilen und folgt auf die schriftliche Prüfung.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Präsentation · max. 15 Min.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wählt ihr selbst.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muss alle fünf Schwerpunkte berühren.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Einzureichen spätestens am Tag der schriftlichen Prüfung.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17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Fachgespräch · max. 30 Min.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 im Anschluss.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zu Hintergründen, Vorgehen und euren Vorschlägen.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Zählt doppelt so stark wie die Präsentation.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suchen euer Präsentationsthema rechtzeitig gemeinsam.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13/19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zum Bestehen zählt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einzelne Leistung braucht mindestens 50 von 100 Punkten.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7510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270662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Einzelleistungen: zwei schriftliche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Aufgaben, Präsentation, Fachgespräch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88920" y="197510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88920" y="270662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Punkte Mindestmaß 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jeder Leistung einzeln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0" y="197510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0" y="270662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Gewichtung von schriftlicher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mündlicher Prüfung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69480" y="1975104"/>
            <a:ext cx="1307592" cy="1371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269480" y="1975104"/>
            <a:ext cx="41148" cy="1371600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14" name="Text 12"/>
          <p:cNvSpPr/>
          <p:nvPr/>
        </p:nvSpPr>
        <p:spPr>
          <a:xfrm>
            <a:off x="7507224" y="2121408"/>
            <a:ext cx="9052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starkes Ergebnis gleicht ein schwaches nicht aus.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Liegt genau eine schriftliche Aufgabe knapp darunter, gibt es eine mündliche Ergänzungsprüfung.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14/19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wir zusammenarbeiten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paar Absprachen für die nächsten Monate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Rahmen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536192"/>
            <a:ext cx="80101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über Google Meet – den Link findet ihr im Kursdashboard der Akademie.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Unterricht wird nicht aufgezeichnet – kommt pünktlich und seid möglichst immer dabei.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das Aufstiegs-BAföG braucht ihr eine Teilnahmequote von über 70 Prozent.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müsst euch nicht abmelden – behaltet nur eure Quote im Blick.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sind ausdrücklich erwünscht, und wir gehen respektvoll miteinander um.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913632"/>
            <a:ext cx="8010144" cy="4572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913632"/>
            <a:ext cx="41148" cy="45720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8" name="Image 0" descr="/Users/jacobmenge/Desktop/kurs-unterlagen/folien/assets/icons/googlemeet-0089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404164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4059936"/>
            <a:ext cx="7260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ich einmal ausfalle, erfahrt ihr das rechtzeitig über Cloudhelden.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Zusammenarbeit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15/19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MITEINANDER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Bitten an euch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895344" cy="248716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41148" cy="248716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190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 an, wenn es geht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039112"/>
            <a:ext cx="34930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zu unterrichten ist wie ein Vortrag in einen dunklen Raum, wenn niemand zu sehen ist.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sehe an euren Gesichtern, ob etwas angekommen ist – und kann sonst nicht nachsteuern.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mal nicht passt: auch okay.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1572768"/>
            <a:ext cx="3895344" cy="248716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81728" y="1572768"/>
            <a:ext cx="41148" cy="248716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7190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Meldet euch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2039112"/>
            <a:ext cx="34930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Unterbrecht mich, wenn etwas unklar ist. Wer fragt, hilft meist der halben Gruppe mit.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Nutzt gern den Chat, wenn euch das leichter fällt.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hab's nicht verstanden" ist ein vollständiger Satz.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Zusammenarbeit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16/19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Womit ihr lernt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523744" cy="2148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41148" cy="21488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642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98448" y="1719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Folien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162763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Führen durch den Kursabend – ihr findet sie danach in der Akademie zum Nacharbeiten.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572768"/>
            <a:ext cx="2523744" cy="2148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572768"/>
            <a:ext cx="41148" cy="214884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12" name="Image 0" descr="/Users/jacobmenge/Desktop/kurs-unterlagen/folien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700784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547872" y="16642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041648" y="171907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Akademie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41648" y="2057400"/>
            <a:ext cx="162763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zentrale Lernplattform: Lernmodule zum Selbstlernen mit Quiz und Labs – alles zum Vertiefen an einem Ort.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1572768"/>
            <a:ext cx="2523744" cy="2148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1572768"/>
            <a:ext cx="41148" cy="214884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18" name="Image 1" descr="/Users/jacobmenge/Desktop/kurs-unterlagen/folien/assets/icons/pluralsight-F15B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700784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91072" y="16642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784848" y="171907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Pluralsight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784848" y="2057400"/>
            <a:ext cx="162763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Geführte Übungen in echten Cloud-Umgebungen. Den Zugang bekommt ihr gestellt.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3" name="Text 19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läuft über akademie.cloudhelden.org – dort ist auch der Meeting-Link.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Zusammenarbeit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17/19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etwas 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Wege – je nachdem, worum es geht: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Fachliche Fragen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mich, am besten direkt im Unterricht.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haben zweimal pro Woche Zeit – nutzt sie.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17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Organisatorische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beratung@cloudhelden.org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Zugänge, Termine, BAföG, Prüfungsanmeldung, persönliche Anliegen.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Schreibt lieber einmal zu früh als zu spät – gerade bei Formalien.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Zusammenarbeit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18/19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Beim nächsten Mal geht es richtig los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8010144" cy="105156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41148" cy="10515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00784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starten mit dem Fundament: Netzwerke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039112"/>
            <a:ext cx="7607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Netzwerk kein Server, keine Cloud, kein Container. Deshalb fangen wir dort an – und bauen darauf alles Weitere auf.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880360"/>
            <a:ext cx="8010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Bringt nichts weiter mit als euren Rechner.</a:t>
            </a:r>
            <a:endParaRPr lang="en-US" sz="13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installieren wir gemeinsam, wenn wir sie brauchen.</a:t>
            </a:r>
            <a:endParaRPr lang="en-US" sz="13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mag, schaut vorher in die Lernmodule in der Akademie – Pflicht ist das nicht.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Zusammenarbeit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19/19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möchtet ihr noch wissen?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darf gefragt werden – zum Kurs, zur Prüfung, zu mir.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Schön, dass ihr da seid.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Orientierung – Systemintegration und Vernetzung</dc:title>
  <dc:subject>Kursstart, Weg bis zur Prüfung, Kennenlernen</dc:subject>
  <dc:creator>Jacob Menge</dc:creator>
  <cp:lastModifiedBy>Jacob Menge</cp:lastModifiedBy>
  <cp:revision>1</cp:revision>
  <dcterms:created xsi:type="dcterms:W3CDTF">2026-08-26T15:00:47Z</dcterms:created>
  <dcterms:modified xsi:type="dcterms:W3CDTF">2026-08-26T15:00:47Z</dcterms:modified>
</cp:coreProperties>
</file>