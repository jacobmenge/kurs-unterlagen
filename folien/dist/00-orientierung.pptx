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Shape 1"/>
          <p:cNvSpPr/>
          <p:nvPr/>
        </p:nvSpPr>
        <p:spPr>
          <a:xfrm>
            <a:off x="182880" y="0"/>
            <a:ext cx="64008" cy="5143500"/>
          </a:xfrm>
          <a:prstGeom prst="rect">
            <a:avLst/>
          </a:prstGeom>
          <a:solidFill>
            <a:srgbClr val="1F4A2B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KURSSTART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Herzlich willkommen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Geprüfter Berufsspezialist für Systemintegration und Vernetzung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2C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Orientierungsabend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ABLAUF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geht es noch nicht um Technik, sondern um euch, mich und den Weg bis zur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260604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72768" y="197510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Technik-Check, Begrüßung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23570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23570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bin ich – und wofür ihr mich ansprechen könnt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496312"/>
            <a:ext cx="8266176" cy="260604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9631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72768" y="249631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Blitzrunde: alle einmal kurz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2756916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756916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Kleingruppen: richtig kennenlernen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017520"/>
            <a:ext cx="8266176" cy="260604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17520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72768" y="3017520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im Plenum, danach Pause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27812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72768" y="327812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Weg bis zur Prüfung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" y="3538728"/>
            <a:ext cx="8266176" cy="260604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3872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72768" y="353872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379933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72768" y="379933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Fragen und Ausblick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könnt ihr jederzeit dazwischen stellen – dafür ist der Abend da.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VORSTELLUNG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euch durch den Kurs begleitet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5780" y="1440180"/>
            <a:ext cx="2048256" cy="2048256"/>
          </a:xfrm>
          <a:prstGeom prst="rect">
            <a:avLst/>
          </a:prstGeom>
          <a:solidFill>
            <a:srgbClr val="7DFF9A"/>
          </a:solidFill>
          <a:ln/>
        </p:spPr>
      </p:sp>
      <p:pic>
        <p:nvPicPr>
          <p:cNvPr id="6" name="Image 0" descr="/Users/jacobmenge/Desktop/kurs-unterlagen/folien/assets/jaco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1965960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88920" y="137160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 Menge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2788920" y="18470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IT-Dozent · DevOps, Cloud und Linux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88920" y="2340864"/>
            <a:ext cx="57607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Informatik in Bremerhaven studiert, davor Software-Entwicklung in der Forschung – am Alfred-Wegener-Institut und im KI-Transfer-Zentrum.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 2023 in der IT-Weiterbildung, heute freiberuflich. Schwerpunkte: AWS und Azure, Container, CI/CD und Linux.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Ausbildereignung (AEVO) und AWS-zertifiziert. Ich habe selbst IHK-Prüfungen konzipiert, abgenommen und Teilnehmende vorbereitet.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712464"/>
            <a:ext cx="8010144" cy="65836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3712464"/>
            <a:ext cx="41148" cy="658368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3858768"/>
            <a:ext cx="7607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 der IT: Krav Maga, so oft es geht. Ich wohne mit meinen besten Freunden in einem Haus.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Außerdem mache ich kurze Videos über Themen, die mich gerade faszinieren.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MEINE ROLLE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mich ansprechen könnt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unterrichte den fachlichen Schwerpunkt – die Spezialisierung Systemintegration und Vernetzung.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87452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7452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Betrieb, Monitoring und IT-Sicherheit. Fragt lieber einmal zu viel als zu wenig.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87452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87452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 Prüfung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drankommt, wie die Aufgaben aussehen, worauf ihr beim Lernen achten solltet und wie ihr euer Präsentationsthema findet.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87452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87452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hakt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ihr im Stoff hängt, etwas verpasst habt oder das Tempo nicht passt: sagt Bescheid. Ich kann nur nachsteuern, wenn ich es weiß.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Organisatorisches läuft über Cloudhelden – dazu später mehr.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4A3608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8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wer seid ihr?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drei Schritten – erst kurz, dann in Ruhe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SCHRITT 1 · ETWA 15 MINUTEN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eine schnelle 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sind über zwanzig – deshalb halten wir es hier bewusst kurz. Ein Satz pro Person genügt: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8010144" cy="822960"/>
          </a:xfrm>
          <a:prstGeom prst="rect">
            <a:avLst/>
          </a:prstGeom>
          <a:solidFill>
            <a:srgbClr val="222835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82296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760780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bin … , ich sitze in … , und ich arbeite als … "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66928" y="2944368"/>
            <a:ext cx="8010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30 Sekunden pro Person – alles Weitere kommt gleich in den Kleingruppen.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euren Namen gern zusätzlich in den Chat, dann kann ich ihn mir merken.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nichts sagen möchte, sagt einfach nur den Namen.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SCHRITT 2 · ETWA 20 MINUTEN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Dann in Kleingruppen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teile euch in Gruppen zu viert oder fünft auf. Dort habt ihr Zeit, euch richtig kennenzulernen.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Erzählt euch gegenseitig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sieht dein IT-Alltag aus?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hattest du bisher mit Netzwerken, Servern oder Cloud zu tun?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machst du diesen Kurs?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dann: zwei Wahrheiten, eine Lüge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Person nennt drei Aussagen über sich – zwei stimmen, eine ist erfunden.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anderen raten. Danach wird aufgelöst.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Sucht euch eine Person, die nachher kurz berichtet, was euch überrascht hat.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SCHRITT 3 · ETWA 10 MINUTEN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wieder zusammen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erzählt kurz: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hat euch in eurer Gruppe am meisten überrascht?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 es eine Lüge, die wirklich niemand durchschaut hat?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Habt ihr etwas gemeinsam, das ihr nicht erwartet hättet?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200400"/>
            <a:ext cx="8010144" cy="93268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200400"/>
            <a:ext cx="41148" cy="932688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34670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mir das wichtig ist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648456"/>
            <a:ext cx="7607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sehen uns bis zur Prüfung zweimal pro Woche. Wer sich kennt, traut sich eher zu fragen – und genau davon lebt der Unterricht.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0E3A42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8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führt das alles hin?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bis zur Prüfung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ABSCHLUSS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am Ende in der Hand habt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bundesweit anerkannter IHK-Fortbildungsabschluss.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DQR 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Stufe der höher-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qualifizierenden Berufsbildung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46120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46120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Stunden Lernumfang laut Verordnung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 und Selbststudium zusammen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0" y="197510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943600" y="2706624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Qualifikationsschwerpunkte,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 der Prüfung vorkommen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weist nach, dass ihr Systeme eigenständig planen, integrieren und betreiben könnt.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AUFBAU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Kurs besteht aus drei Teilen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davon unterrichtet eine andere Lehrkraft – ihr habt also nicht nur mich.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201168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201168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Spezialisierung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984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IT-Sicherheit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machen wir zusammen.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201168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201168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IT-Recht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416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 und rechtliche Vorgaben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Datenschutz, Verträge, Compliance.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201168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201168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Projektmanagement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848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Projektunterstützung und -koordination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Planung, Kalkulation, Controlling.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Prüfung kommen alle drei vor – auch Recht und Projektmanagement.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 SPEZIALISIERUNG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gemeinsamer Teil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Themen, die aufeinander aufbauen – vom Planen über das Betreiben bis zum Absichern.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und integrieren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Architekturen, Speicher, Ressourcen und Lizenzen. Wie entsteht eine Infrastruktur?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sicherstellen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16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Ausfallsicherheit, Backup und Wiederanlauf, Monitoring, Betriebsdaten, Softwareverteilung und Orchestrierung.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848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bewerten, Sicherheitskonzepte, Umgang mit Vorfällen, Tests, Optimierung und die Übergabe an Anwender.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 davon üben wir praktisch – an echten Systemen, nicht nur auf Folien.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ZEITPLAN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grobe Fahrplan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genaue Themenplan entsteht unterwegs – der Rahmen steht aber schon: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70432" y="2697480"/>
            <a:ext cx="6803136" cy="0"/>
          </a:xfrm>
          <a:prstGeom prst="line">
            <a:avLst/>
          </a:prstGeom>
          <a:noFill/>
          <a:ln w="25400">
            <a:solidFill>
              <a:srgbClr val="2C34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2619756"/>
            <a:ext cx="155448" cy="155448"/>
          </a:xfrm>
          <a:prstGeom prst="ellipse">
            <a:avLst/>
          </a:prstGeom>
          <a:solidFill>
            <a:srgbClr val="4DD0E1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3335" y="2619756"/>
            <a:ext cx="155448" cy="155448"/>
          </a:xfrm>
          <a:prstGeom prst="ellipse">
            <a:avLst/>
          </a:prstGeom>
          <a:solidFill>
            <a:srgbClr val="4DD0E1"/>
          </a:solidFill>
          <a:ln/>
        </p:spPr>
      </p:sp>
      <p:sp>
        <p:nvSpPr>
          <p:cNvPr id="11" name="Text 9"/>
          <p:cNvSpPr/>
          <p:nvPr/>
        </p:nvSpPr>
        <p:spPr>
          <a:xfrm>
            <a:off x="1927555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THEMA 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27555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13962" y="2619756"/>
            <a:ext cx="155448" cy="155448"/>
          </a:xfrm>
          <a:prstGeom prst="ellipse">
            <a:avLst/>
          </a:prstGeom>
          <a:solidFill>
            <a:srgbClr val="4DD0E1"/>
          </a:solidFill>
          <a:ln/>
        </p:spPr>
      </p:sp>
      <p:sp>
        <p:nvSpPr>
          <p:cNvPr id="14" name="Text 12"/>
          <p:cNvSpPr/>
          <p:nvPr/>
        </p:nvSpPr>
        <p:spPr>
          <a:xfrm>
            <a:off x="3288182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THEMA 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88182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74590" y="2619756"/>
            <a:ext cx="155448" cy="155448"/>
          </a:xfrm>
          <a:prstGeom prst="ellipse">
            <a:avLst/>
          </a:prstGeom>
          <a:solidFill>
            <a:srgbClr val="4DD0E1"/>
          </a:solidFill>
          <a:ln/>
        </p:spPr>
      </p:sp>
      <p:sp>
        <p:nvSpPr>
          <p:cNvPr id="17" name="Text 15"/>
          <p:cNvSpPr/>
          <p:nvPr/>
        </p:nvSpPr>
        <p:spPr>
          <a:xfrm>
            <a:off x="4648810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THEMA 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48810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35217" y="2619756"/>
            <a:ext cx="155448" cy="155448"/>
          </a:xfrm>
          <a:prstGeom prst="ellipse">
            <a:avLst/>
          </a:prstGeom>
          <a:solidFill>
            <a:srgbClr val="4DD0E1"/>
          </a:solidFill>
          <a:ln/>
        </p:spPr>
      </p:sp>
      <p:sp>
        <p:nvSpPr>
          <p:cNvPr id="20" name="Text 18"/>
          <p:cNvSpPr/>
          <p:nvPr/>
        </p:nvSpPr>
        <p:spPr>
          <a:xfrm>
            <a:off x="6009437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RECHT+PM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09437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Lehrkraft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95844" y="2619756"/>
            <a:ext cx="155448" cy="155448"/>
          </a:xfrm>
          <a:prstGeom prst="ellipse">
            <a:avLst/>
          </a:prstGeom>
          <a:solidFill>
            <a:srgbClr val="FF6B7A"/>
          </a:solidFill>
          <a:ln/>
        </p:spPr>
      </p:sp>
      <p:sp>
        <p:nvSpPr>
          <p:cNvPr id="23" name="Text 21"/>
          <p:cNvSpPr/>
          <p:nvPr/>
        </p:nvSpPr>
        <p:spPr>
          <a:xfrm>
            <a:off x="7370064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PRÜFUNG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70064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 mündlich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3749040"/>
            <a:ext cx="8010144" cy="64008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749040"/>
            <a:ext cx="41148" cy="64008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95344"/>
            <a:ext cx="76078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der schriftlichen Prüfung gibt es zusätzlich eine freiwillige, intensive Prüfungsvorbereitung. Die Teilnahme lohnt sich.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arbeiten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Werkzeuge, die euch im Kurs begegnen – ihr müsst nichts davon vorher können.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Netzwerkwerkzeuge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Multipass für virtuelle Maschinen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Linux-Kommandozeile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und Compose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B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16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und Grafana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und Helm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und GitHub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848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Schwachstellen-Scanner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Testverfahren und Testpläne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Risikoanalyse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Vorfallbearbeitung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wird gemeinsam installiert – bringt nur euren Rechner mit.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PLURALSIGHT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zum Anfassen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zu Pluralsight – dort arbeitet ihr in echten Cloud-Umgebungen.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ist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Lernplattform mit geführten Übungen in einer echten Cloud-Umgebung.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gestellt und arbeitet dort in eurem Tempo.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wir es nutzen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und andere Cloud-Dienste ausprobieren, ohne eigenes Konto und ohne Kostenrisiko.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für Themen, die auf dem eigenen Rechner nicht funktionieren.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Zugangsdaten bekommt ihr über Cloudhelden.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PRÜFUNGSFORMAT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schriftliche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Wissensabfrage, sondern ein Fall aus dem Betrieb, den ihr durchdenkt und löst.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 ist die Beschreibung einer betrieblichen Situation.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Daraus zwei Aufgaben – je mindestens 90 Minuten, zusammen höchstens 240.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Aufgabe berührt alle fünf Schwerpunkte, auch Recht und Projektmanagement.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entwickelt eigene Lösungen und begründet sie. Selten gibt es nur einen richtigen Weg.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arbeiten wir im Kurs viel mit Szenarien: „Ein Betrieb hat folgendes Problem – was schlagt ihr vor, und warum?"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PRÜFUNGSFORMAT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mündliche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besteht aus zwei Teilen und folgt auf die schriftliche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Präsentation · max. 15 Min.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wählt ihr selbst.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muss alle fünf Schwerpunkte berühren.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Einzureichen spätestens am Tag der schriftlichen Prüfung.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Fachgespräch · max. 30 Min.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im Anschluss.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zu Hintergründen, Vorgehen und euren Vorschlägen.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doppelt so stark wie die Präsentation.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suchen euer Präsentationsthema rechtzeitig gemeinsam.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DD0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BEWERTUNG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zum Bestehen zählt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einzelne Leistung braucht mindestens 50 von 100 Punkten.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Einzelleistungen: zwei schriftliche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Präsentation, Fachgespräch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88920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88920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Mindestmaß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jeder Leistung einzeln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0" y="19751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DD0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0" y="270662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Gewichtung von schriftlicher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mündlicher Prüfung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69480" y="1975104"/>
            <a:ext cx="1307592" cy="137160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3" name="Shape 11"/>
          <p:cNvSpPr/>
          <p:nvPr/>
        </p:nvSpPr>
        <p:spPr>
          <a:xfrm>
            <a:off x="7269480" y="1975104"/>
            <a:ext cx="41148" cy="1371600"/>
          </a:xfrm>
          <a:prstGeom prst="rect">
            <a:avLst/>
          </a:prstGeom>
          <a:solidFill>
            <a:srgbClr val="FF6B7A"/>
          </a:solidFill>
          <a:ln/>
        </p:spPr>
      </p:sp>
      <p:sp>
        <p:nvSpPr>
          <p:cNvPr id="14" name="Text 12"/>
          <p:cNvSpPr/>
          <p:nvPr/>
        </p:nvSpPr>
        <p:spPr>
          <a:xfrm>
            <a:off x="7507224" y="2121408"/>
            <a:ext cx="9052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starkes Ergebnis gleicht ein schwaches nicht aus.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4DD0E1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genau eine schriftliche Aufgabe knapp darunter, gibt es eine mündliche Ergänzungsprüfung.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1F4A2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8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paar Absprachen für die nächsten Monate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KURSREGELN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Rahmen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536192"/>
            <a:ext cx="80101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über Google Meet, zweimal pro Woche am Abend.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Unterricht wird nicht aufgezeichnet – seid also möglichst dabei.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Aufstiegs-BAföG braucht ihr eine Teilnahmequote von über 70 Prozent.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müsst euch nicht abmelden – behaltet nur eure Quote im Blick.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sind ausdrücklich erwünscht, und wir gehen respektvoll miteinander um.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913632"/>
            <a:ext cx="8010144" cy="45720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913632"/>
            <a:ext cx="41148" cy="45720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059936"/>
            <a:ext cx="76078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einmal ausfalle, erfahrt ihr das rechtzeitig über Cloudhelden.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MITEINANDER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Bitten an euch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895344" cy="248716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487168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Kamera an, wenn es geht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zu unterrichten ist wie ein Vortrag in einen dunklen Raum, wenn niemand zu sehen ist.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sehe an euren Gesichtern, ob etwas angekommen ist – und kann sonst nicht nachsteuern.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mal nicht passt: auch okay.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81728" y="1572768"/>
            <a:ext cx="3895344" cy="248716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572768"/>
            <a:ext cx="41148" cy="2487168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Meldet euch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Unterbrecht mich, wenn etwas unklar ist. Wer fragt, hilft meist der halben Gruppe mit.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Nutzt gern den Chat, wenn euch das leichter fällt.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hab's nicht verstanden" ist ein vollständiger Satz.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MATERIALIEN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lernt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837944" cy="219456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19456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Folien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984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 durch den Abend, zum Nacharbeiten.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24328" y="1572768"/>
            <a:ext cx="1837944" cy="219456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1" name="Shape 9"/>
          <p:cNvSpPr/>
          <p:nvPr/>
        </p:nvSpPr>
        <p:spPr>
          <a:xfrm>
            <a:off x="2624328" y="1572768"/>
            <a:ext cx="41148" cy="219456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12" name="Text 10"/>
          <p:cNvSpPr/>
          <p:nvPr/>
        </p:nvSpPr>
        <p:spPr>
          <a:xfrm>
            <a:off x="28620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558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Kursunterlagen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558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im Detail: Erklärungen, Befehle, Übungen mit Lösungen, Glossar.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81728" y="1572768"/>
            <a:ext cx="1837944" cy="219456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6" name="Shape 14"/>
          <p:cNvSpPr/>
          <p:nvPr/>
        </p:nvSpPr>
        <p:spPr>
          <a:xfrm>
            <a:off x="4681728" y="1572768"/>
            <a:ext cx="41148" cy="219456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17" name="Text 15"/>
          <p:cNvSpPr/>
          <p:nvPr/>
        </p:nvSpPr>
        <p:spPr>
          <a:xfrm>
            <a:off x="49194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32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Akademie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132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Lernplattform von Cloudhelden mit zusätzlichem Material.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39128" y="1572768"/>
            <a:ext cx="1837944" cy="2194560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9128" y="1572768"/>
            <a:ext cx="41148" cy="219456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22" name="Text 20"/>
          <p:cNvSpPr/>
          <p:nvPr/>
        </p:nvSpPr>
        <p:spPr>
          <a:xfrm>
            <a:off x="69768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06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706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Geführte Übungen in echten Cloud-Umgebungen.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Link zu den Kursunterlagen bekommt ihr gleich im Anschluss.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KONTAKT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ist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Wege – je nachdem, worum es geht: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Fachliche Fragen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mich, am besten direkt im Unterricht.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haben zweimal pro Woche Zeit – nutzt sie.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1A1F29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Organisatorische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beratung@cloudhelden.org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Zugänge, Termine, BAföG, Prüfungsanmeldung, persönliche Anliegen.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lieber einmal zu früh als zu spät – gerade bei Formalien.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DF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AUSBLICK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nächsten Mal geht es richtig los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8010144" cy="1051560"/>
          </a:xfrm>
          <a:prstGeom prst="rect">
            <a:avLst/>
          </a:prstGeom>
          <a:solidFill>
            <a:srgbClr val="222835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41148" cy="1051560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00784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starten mit dem Fundament: Netzwerke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 kein Server, keine Cloud, kein Container. Deshalb fangen wir dort an – und bauen darauf alles Weitere auf.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Bringt nichts weiter mit als euren Rechner.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installieren wir gemeinsam, wenn wir sie brauchen.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E6EF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mag, schaut vorher schon in die Kursunterlagen – Pflicht ist das nicht.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2C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50" kern="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97196"/>
            <a:ext cx="9144000" cy="146304"/>
          </a:xfrm>
          <a:prstGeom prst="rect">
            <a:avLst/>
          </a:prstGeom>
          <a:solidFill>
            <a:srgbClr val="7DFF9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möchtet ihr noch wissen?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darf gefragt werden – zum Kurs, zur Prüfung, zu mir.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FF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Schön, dass ihr da seid.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Orientierung – Systemintegration und Vernetzung</dc:title>
  <dc:subject>Kursstart, Weg bis zur Prüfung, Kennenlernen</dc:subject>
  <dc:creator>Jacob Menge</dc:creator>
  <cp:lastModifiedBy>Jacob Menge</cp:lastModifiedBy>
  <cp:revision>1</cp:revision>
  <dcterms:created xsi:type="dcterms:W3CDTF">2026-08-24T13:49:18Z</dcterms:created>
  <dcterms:modified xsi:type="dcterms:W3CDTF">2026-08-24T13:49:18Z</dcterms:modified>
</cp:coreProperties>
</file>