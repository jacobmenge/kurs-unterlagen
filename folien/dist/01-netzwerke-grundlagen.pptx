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unterlagen/folien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 – das Fundament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 auf gemeinsamen Stand – und der Blick auf das, was in der Ausbildung fehlte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26. August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bauen wir gemeinsam das Bild auf, dann messt ihr es an eurem eigenen Rechner nach.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56816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5681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572768" y="195681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 und Einstieg: eine Frage, die den ganzen Block trägt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219456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572768" y="219456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 – und die Grundbegriffe, die überall auftauchen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" y="2432304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4323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18:40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572768" y="243230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OSI-Modell: sieben Schichten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66928" y="26700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572768" y="267004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8912" y="2907792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29077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19:05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572768" y="290779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TCP/IP, Kapselung und Schicht-Denken als Diagnosewerkzeug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66928" y="31455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572768" y="314553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" y="3383280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33832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19:35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572768" y="338328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der Schichten-Check am eigenen Rechner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66928" y="36210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20:25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572768" y="362102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im Plenum – wir tragen eure Ergebnisse zusammen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38912" y="3858768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38587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20:55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572768" y="385876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und offene Fragen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0" name="Text 28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jederzeit dazwischen – lieber sofort als drei Folien später.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1/26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LEITFRAGE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Frage, an der wir uns festhalten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600200"/>
            <a:ext cx="74615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passiert technisch,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ich github.com in den Browser tippe?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3154680"/>
            <a:ext cx="8010144" cy="9144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154680"/>
            <a:ext cx="41148" cy="914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300984"/>
            <a:ext cx="7607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Ende dieses Blocks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3602736"/>
            <a:ext cx="7607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erklärt ihr das in zehn Minuten am Whiteboard, ohne ins Stocken zu geraten – von der Namensauflösung über die Verbindung bis zur fertigen Seite.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legen wir das Raster, in das später jede Antwort einsortiert wird.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2/26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wir gerade stehen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 sind der erste Baustein von Thema 1 – und das Vokabular für alles, was danach kommt.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435608" y="2743200"/>
            <a:ext cx="6272784" cy="0"/>
          </a:xfrm>
          <a:prstGeom prst="line">
            <a:avLst/>
          </a:prstGeom>
          <a:noFill/>
          <a:ln w="25400">
            <a:solidFill>
              <a:srgbClr val="DFE3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57884" y="266547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19456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907792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Systeme sich erreichen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48812" y="266547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11" name="Text 9"/>
          <p:cNvSpPr/>
          <p:nvPr/>
        </p:nvSpPr>
        <p:spPr>
          <a:xfrm>
            <a:off x="2657856" y="219456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Virtualisierung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57856" y="2907792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Systeme entkoppeln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539740" y="266547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14" name="Text 12"/>
          <p:cNvSpPr/>
          <p:nvPr/>
        </p:nvSpPr>
        <p:spPr>
          <a:xfrm>
            <a:off x="4748784" y="219456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748784" y="2907792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Anwendungen verpacken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630668" y="2665476"/>
            <a:ext cx="155448" cy="155448"/>
          </a:xfrm>
          <a:prstGeom prst="ellipse">
            <a:avLst/>
          </a:prstGeom>
          <a:solidFill>
            <a:srgbClr val="B33A3A"/>
          </a:solidFill>
          <a:ln/>
        </p:spPr>
      </p:sp>
      <p:sp>
        <p:nvSpPr>
          <p:cNvPr id="17" name="Text 15"/>
          <p:cNvSpPr/>
          <p:nvPr/>
        </p:nvSpPr>
        <p:spPr>
          <a:xfrm>
            <a:off x="6839712" y="219456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Infrastruktur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839712" y="2907792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zusammenbringen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Netzwerkwissen fehlt euch später die Sprache für Container-Netze, Cloud-Architekturen und Sicherheitszonen.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3/26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 zuerst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Querschnittsthema, auf dem der ganze Kurs aufbaut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wir mit Bekanntem anfangen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seid ausgebildete Fachinformatiker. Das meiste von heute Abend habt ihr schon einmal gehört – und das ist Absicht.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Gemeinsame Sprache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98448" y="2441448"/>
            <a:ext cx="16276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kommt aus verschiedenen Betrieben und Jahrgängen. Ab Montag rechnen wir – da müssen die Begriffe bei allen gleich sitzen.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10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41648" y="212140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Standortbestimmung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41648" y="2441448"/>
            <a:ext cx="16276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der Ausbildung liegt vieles ein paar Jahre zurück. Heute merkt jeder selbst, wo es hakt – ohne dass es jemand mitbekommt.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5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84848" y="212140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neue Teil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784848" y="2441448"/>
            <a:ext cx="16276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Industrie- und Anlagenvernetzung stand in keiner FISI-Ausbildung. Genau dort liegt der Kern dieser Fortbildung.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es schnell gehen. Sagt Bescheid, wenn ich zu schnell bin – oder zu langsam.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PRAXISBEZUG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Situationen aus dem Berufsalltag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allen drei Fällen entscheidet Netzwerkwissen darüber, ob das Projekt gelingt.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Filiale anbinden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98448" y="2441448"/>
            <a:ext cx="16276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Welches Subnetz? Wie kommt sie sicher an die Zentrale? Wer vergibt die Adressen?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10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41648" y="212140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Anlage ans MES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41648" y="2441448"/>
            <a:ext cx="16276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Maschine spricht Profinet oder OPC UA, die Auswertung erwartet MQTT. Wer übersetzt?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5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84848" y="212140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in die Cloud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784848" y="2441448"/>
            <a:ext cx="16276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Dieselbe Anwendung, neuer Ort. Latenz, Adressen und Firewall-Regeln ändern sich alle.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 drei Fälle begleiten uns durch den ganzen Kurs.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5/26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WELTEN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Klassische IT trifft Industrie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Spezialisierung heißt „Systemintegration und Vernetzung“ – gemeint sind beide Welten.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9751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70048" y="197510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Klassische IT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47488" y="1975104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 und Anlagen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267712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340864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34086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Vorrang hat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048" y="234086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Vertraulichkeit der Daten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47488" y="2340864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Verfügbarkeit der Anlage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8368" y="26700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Zeitverhalten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048" y="267004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„schnell genug“ reicht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47488" y="2670048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garantierte Reaktionszeiten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" y="2999232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9923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Lebensdauer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670048" y="299923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bis 5 Jahre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047488" y="2999232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bis 25 Jahre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33284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Typische Protokolle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670048" y="332841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HTTP, SSH, SMB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047488" y="3328416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Profinet, OPC UA, MQTT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5488" y="3657600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6576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670048" y="3657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regelmäßig eingeplant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047488" y="3657600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im Wartungsfenster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beide Welten verbindet, muss die Regeln von beiden Seiten kennen.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6/26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KERN DIESER FORTBILDUNG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in der Ausbildung nicht vorkam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Ausbildung hat euch die Office-IT gegeben. Hier kommt die andere Hälfte dazu.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Kennt ihr schon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Subnetting und Routing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DNS, DHCP, VLAN, VPN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Switches, Firewalls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Virtualisierung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Kommt neu dazu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Profinet, OPC UA, MQTT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Cyber-physische Systeme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und Orchestrierung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Verfügbarkeit rechnen, BCM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ISMS und Testmanagement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eigentliche Sprung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Ausführen zum Planen.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habt Systeme betrieben – jetzt konzipiert, bewertet und verantwortet ihr sie.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Netzwerkabende sind der einzige größere Wiederholungsteil. Ab Abend 7 wird es für alle neu.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7/26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Begriffe, bei denen es erfahrungsgemäß auseinandergeht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KURZCHECK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Topologien – nur die eine Frage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45920"/>
            <a:ext cx="1879092" cy="20574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45920"/>
            <a:ext cx="41148" cy="2057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92224"/>
            <a:ext cx="1476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Stern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1476756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an einen zentralen Switch.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der Normalfall im LAN.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Ausfall des Sterns trifft alle.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610612" y="1645920"/>
            <a:ext cx="1879092" cy="20574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2610612" y="1645920"/>
            <a:ext cx="41148" cy="2057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1" name="Text 9"/>
          <p:cNvSpPr/>
          <p:nvPr/>
        </p:nvSpPr>
        <p:spPr>
          <a:xfrm>
            <a:off x="2848356" y="1792224"/>
            <a:ext cx="1476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848356" y="2112264"/>
            <a:ext cx="1476756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mit zwei Nachbarn.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der Industrie verbreitet.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Bruch wird umgeleitet.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54296" y="1645920"/>
            <a:ext cx="1879092" cy="20574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4" name="Shape 12"/>
          <p:cNvSpPr/>
          <p:nvPr/>
        </p:nvSpPr>
        <p:spPr>
          <a:xfrm>
            <a:off x="4654296" y="1645920"/>
            <a:ext cx="41148" cy="2057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4892040" y="1792224"/>
            <a:ext cx="1476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92040" y="2112264"/>
            <a:ext cx="1476756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an einer Leitung.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Historisch, heute selten.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Defekt legt alles lahm.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697980" y="1645920"/>
            <a:ext cx="1879092" cy="20574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Shape 16"/>
          <p:cNvSpPr/>
          <p:nvPr/>
        </p:nvSpPr>
        <p:spPr>
          <a:xfrm>
            <a:off x="6697980" y="1645920"/>
            <a:ext cx="41148" cy="2057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6935724" y="1792224"/>
            <a:ext cx="1476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Masche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35724" y="2112264"/>
            <a:ext cx="1476756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Viele Wege zum Ziel.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Grundprinzip des Internets.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Teuer, aber ausfallsicher.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3840480"/>
            <a:ext cx="8010144" cy="56692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22" name="Shape 20"/>
          <p:cNvSpPr/>
          <p:nvPr/>
        </p:nvSpPr>
        <p:spPr>
          <a:xfrm>
            <a:off x="566928" y="3840480"/>
            <a:ext cx="41148" cy="5669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3" name="Text 21"/>
          <p:cNvSpPr/>
          <p:nvPr/>
        </p:nvSpPr>
        <p:spPr>
          <a:xfrm>
            <a:off x="804672" y="3986784"/>
            <a:ext cx="760780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Bilder kennt ihr. Interessant ist nur die Folge: Welcher Ausfall legt wie viel lahm? Der Ring ist der Grund, warum die Industrie anders baut als das Büro.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8/26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DATENEINHEITEN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fließt eigentlich durch das Netz?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Dieselben Daten heißen auf jeder Schicht anders – und das ist kein Zufall.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9751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Einheit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121408" y="19751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133088" y="1975104"/>
            <a:ext cx="4352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drumherum steht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267712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340864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340864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121408" y="234086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– physisch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133088" y="2340864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nichts, nur Signal auf der Leitung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8368" y="267004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121408" y="26700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– Sicherung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133088" y="2670048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MAC-Adressen von Sender und Empfänger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" y="2999232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9923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121408" y="299923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– Vermittlung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133088" y="2999232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IP-Adressen von Quelle und Ziel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3328416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121408" y="33284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– Transport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133088" y="3328416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Portnummern und Reihenfolge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5488" y="3657600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65760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121408" y="36576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Anwendung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133088" y="3657600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eigentliche Nachricht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jemand von „Paket“ spricht, meint er Layer 3. Bei „Frame“ ist er auf Layer 2.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9/26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KENNZAHLEN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Bandbreite ist nicht gleich Geschwindigkeit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Kennzahlen, die im Betrieb ständig durcheinandergeworfen werden.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1031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Mbit/s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66928" y="256032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Bandbreite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 gleichzeitig durchpasst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624328" y="21031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2624328" y="256032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Latenz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lange ein Paket unterwegs ist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681728" y="21031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 ms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681728" y="256032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Jitter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stark die Latenz schwankt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739128" y="21031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739128" y="256032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Paketverlust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unterwegs verloren geht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520440"/>
            <a:ext cx="8010144" cy="9144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5" name="Shape 13"/>
          <p:cNvSpPr/>
          <p:nvPr/>
        </p:nvSpPr>
        <p:spPr>
          <a:xfrm>
            <a:off x="566928" y="3520440"/>
            <a:ext cx="41148" cy="914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666744"/>
            <a:ext cx="7607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Bild dazu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04672" y="3950208"/>
            <a:ext cx="7607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Bandbreite ist die Zahl der Fahrspuren, Latenz die Fahrzeit. Eine zwölfspurige Autobahn hilft nicht, wenn der Weg um die halbe Welt führt.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10/26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Schichten denken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wichtigste Werkzeug des ganzen Abends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GRUNDIDEE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überhaupt Schichten?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Bekannt – aber die wenigsten benutzen es im Alltag wirklich. Genau darum geht es heute.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801014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Schicht löst genau ein Problem und nutzt die Schicht darunter.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Schicht ist austauschbar: WLAN statt Kabel ändert nichts an eurer Anwendung.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 lassen sich eingrenzen, statt zu raten – das ist der Alltagsnutzen.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Hersteller können unabhängig voneinander entwickeln und bleiben kompatibel.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3474720"/>
            <a:ext cx="8010144" cy="9601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474720"/>
            <a:ext cx="41148" cy="96012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621024"/>
            <a:ext cx="7607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Post-Analogie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4672" y="3904488"/>
            <a:ext cx="7607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schreibt den Brief (Schicht 7), steckt ihn in einen Umschlag mit Adresse (Schicht 3), die Post sortiert nach Postleitzahl und der Fahrer kennt nur die nächste Station (Schicht 2).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11/26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SIEBEN SCHICHTEN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OSI-Modell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8010144" cy="33832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72768"/>
            <a:ext cx="310896" cy="3383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572768"/>
            <a:ext cx="31089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1572768"/>
            <a:ext cx="2606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Anwendung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30168" y="1572768"/>
            <a:ext cx="4800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HTTP, DNS, SSH – was der Nutzer sieht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1947672"/>
            <a:ext cx="8010144" cy="3383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1947672"/>
            <a:ext cx="310896" cy="338328"/>
          </a:xfrm>
          <a:prstGeom prst="rect">
            <a:avLst/>
          </a:prstGeom>
          <a:solidFill>
            <a:srgbClr val="5C6377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1947672"/>
            <a:ext cx="31089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24128" y="1947672"/>
            <a:ext cx="2606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Darstellung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30168" y="1947672"/>
            <a:ext cx="4800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Verschlüsselung, Kompression, Zeichensatz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2322576"/>
            <a:ext cx="8010144" cy="3383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2322576"/>
            <a:ext cx="310896" cy="338328"/>
          </a:xfrm>
          <a:prstGeom prst="rect">
            <a:avLst/>
          </a:prstGeom>
          <a:solidFill>
            <a:srgbClr val="5C6377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2322576"/>
            <a:ext cx="31089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24128" y="2322576"/>
            <a:ext cx="2606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Sitzung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30168" y="2322576"/>
            <a:ext cx="4800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Auf- und Abbau von Sitzungen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2697480"/>
            <a:ext cx="8010144" cy="33832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21" name="Shape 19"/>
          <p:cNvSpPr/>
          <p:nvPr/>
        </p:nvSpPr>
        <p:spPr>
          <a:xfrm>
            <a:off x="566928" y="2697480"/>
            <a:ext cx="310896" cy="3383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2697480"/>
            <a:ext cx="31089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24128" y="2697480"/>
            <a:ext cx="2606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630168" y="2697480"/>
            <a:ext cx="4800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TCP und UDP, Portnummern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3072384"/>
            <a:ext cx="8010144" cy="33832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26" name="Shape 24"/>
          <p:cNvSpPr/>
          <p:nvPr/>
        </p:nvSpPr>
        <p:spPr>
          <a:xfrm>
            <a:off x="566928" y="3072384"/>
            <a:ext cx="310896" cy="3383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3072384"/>
            <a:ext cx="31089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24128" y="3072384"/>
            <a:ext cx="2606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Vermittlung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630168" y="3072384"/>
            <a:ext cx="4800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IP-Adressen, Routing zwischen Netzen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3447288"/>
            <a:ext cx="8010144" cy="33832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1" name="Shape 29"/>
          <p:cNvSpPr/>
          <p:nvPr/>
        </p:nvSpPr>
        <p:spPr>
          <a:xfrm>
            <a:off x="566928" y="3447288"/>
            <a:ext cx="310896" cy="3383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2" name="Text 30"/>
          <p:cNvSpPr/>
          <p:nvPr/>
        </p:nvSpPr>
        <p:spPr>
          <a:xfrm>
            <a:off x="566928" y="3447288"/>
            <a:ext cx="31089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024128" y="3447288"/>
            <a:ext cx="2606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Sicherung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630168" y="3447288"/>
            <a:ext cx="4800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MAC-Adressen, Switch, Frames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66928" y="3822192"/>
            <a:ext cx="8010144" cy="33832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6" name="Shape 34"/>
          <p:cNvSpPr/>
          <p:nvPr/>
        </p:nvSpPr>
        <p:spPr>
          <a:xfrm>
            <a:off x="566928" y="3822192"/>
            <a:ext cx="310896" cy="3383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3822192"/>
            <a:ext cx="31089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024128" y="3822192"/>
            <a:ext cx="2606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Physisch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630168" y="3822192"/>
            <a:ext cx="4800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Kabel, Stecker, Funk, Signalpegel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66928" y="4270248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1" name="Text 39"/>
          <p:cNvSpPr/>
          <p:nvPr/>
        </p:nvSpPr>
        <p:spPr>
          <a:xfrm>
            <a:off x="749808" y="422452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fünf hervorgehobenen Schichten braucht ihr täglich. 5 und 6 tauchen in der Praxis kaum getrennt auf.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12/26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SCHICHTEN – DAS ECHTE INTERNET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TCP/IP-Modell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Zuordnung sitzt erfahrungsgemäß nicht mehr sauber – deshalb einmal nebeneinander.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97510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TCP/IP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395728" y="197510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entspricht OSI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498848" y="1975104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dort passiert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267712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340864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34086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Anwendung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395728" y="234086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7, 6, 5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98848" y="2340864"/>
            <a:ext cx="3986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HTTP, DNS, SSH, TLS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" y="270662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395728" y="270662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498848" y="2706624"/>
            <a:ext cx="3986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TCP, UDP, Ports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5488" y="3072384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307238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395728" y="307238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498848" y="3072384"/>
            <a:ext cx="3986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IP, Routing, ICMP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8368" y="343814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Netzzugang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395728" y="343814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2, 1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498848" y="3438144"/>
            <a:ext cx="3986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Ethernet, WLAN, Kabel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25" name="Text 2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Faustregel: OSI zum Erklären, TCP/IP zum Arbeiten.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13/26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MIT EUREN DATEN PASSIERT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Kapselung – der Umschlag im Umschlag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 dem Weg nach unten bekommt jede Schicht ihren eigenen Kopfteil dazu.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75588" y="2697480"/>
            <a:ext cx="6592824" cy="0"/>
          </a:xfrm>
          <a:prstGeom prst="line">
            <a:avLst/>
          </a:prstGeom>
          <a:noFill/>
          <a:ln w="25400">
            <a:solidFill>
              <a:srgbClr val="DFE3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97864" y="2619756"/>
            <a:ext cx="155448" cy="155448"/>
          </a:xfrm>
          <a:prstGeom prst="ellipse">
            <a:avLst/>
          </a:prstGeom>
          <a:solidFill>
            <a:srgbClr val="0F7C86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148840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862072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„Hallo Server“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846070" y="2619756"/>
            <a:ext cx="155448" cy="155448"/>
          </a:xfrm>
          <a:prstGeom prst="ellipse">
            <a:avLst/>
          </a:prstGeom>
          <a:solidFill>
            <a:srgbClr val="0F7C86"/>
          </a:solidFill>
          <a:ln/>
        </p:spPr>
      </p:sp>
      <p:sp>
        <p:nvSpPr>
          <p:cNvPr id="11" name="Text 9"/>
          <p:cNvSpPr/>
          <p:nvPr/>
        </p:nvSpPr>
        <p:spPr>
          <a:xfrm>
            <a:off x="2215134" y="2148840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Port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215134" y="2862072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Segment, Layer 4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494276" y="2619756"/>
            <a:ext cx="155448" cy="155448"/>
          </a:xfrm>
          <a:prstGeom prst="ellipse">
            <a:avLst/>
          </a:prstGeom>
          <a:solidFill>
            <a:srgbClr val="0F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3863340" y="2148840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IP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863340" y="2862072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Paket, Layer 3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42482" y="2619756"/>
            <a:ext cx="155448" cy="155448"/>
          </a:xfrm>
          <a:prstGeom prst="ellipse">
            <a:avLst/>
          </a:prstGeom>
          <a:solidFill>
            <a:srgbClr val="0F7C86"/>
          </a:solidFill>
          <a:ln/>
        </p:spPr>
      </p:sp>
      <p:sp>
        <p:nvSpPr>
          <p:cNvPr id="17" name="Text 15"/>
          <p:cNvSpPr/>
          <p:nvPr/>
        </p:nvSpPr>
        <p:spPr>
          <a:xfrm>
            <a:off x="5511546" y="2148840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MAC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511546" y="2862072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Frame, Layer 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90688" y="2619756"/>
            <a:ext cx="155448" cy="155448"/>
          </a:xfrm>
          <a:prstGeom prst="ellipse">
            <a:avLst/>
          </a:prstGeom>
          <a:solidFill>
            <a:srgbClr val="B33A3A"/>
          </a:solidFill>
          <a:ln/>
        </p:spPr>
      </p:sp>
      <p:sp>
        <p:nvSpPr>
          <p:cNvPr id="20" name="Text 18"/>
          <p:cNvSpPr/>
          <p:nvPr/>
        </p:nvSpPr>
        <p:spPr>
          <a:xfrm>
            <a:off x="7159752" y="2148840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159752" y="2862072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Bits, Layer 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3675888"/>
            <a:ext cx="8010144" cy="713232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23" name="Shape 21"/>
          <p:cNvSpPr/>
          <p:nvPr/>
        </p:nvSpPr>
        <p:spPr>
          <a:xfrm>
            <a:off x="566928" y="3675888"/>
            <a:ext cx="41148" cy="7132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3822192"/>
            <a:ext cx="760780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Beim Empfänger läuft es rückwärts: jede Schicht packt ihren Teil aus und reicht den Rest nach oben. Genau deshalb kann ein Router die IP lesen, ohne die Anwendung zu kennen.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14/26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SCHICHT-DENKEN IM ALLTAG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Wofür ihr das wirklich braucht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Schichten sind nichts zum Auswendiglernen, sondern ein Suchraster für den Alltag.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Fehlersuche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Von unten nach oben prüfen: Kabel, Adresse, Weg, Port, Dienst. Die erste Schicht, die scheitert, ist die Ursache.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Sicherheit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Schicht hat ihre eigene Abwehr: Portsicherheit auf 2, Firewall auf 3 und 4, Web-Filter auf 7.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Leistung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Langsam heißt selten „das Netz“. Es ist Latenz, Paketverlust oder eine wartende Anwendung.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Genau dieses Vorgehen probt ihr gleich im Breakout.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15/26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WERKZEUGKASTEN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Befehl je Schicht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6276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395728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961888" y="1627632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Befehl (Windows)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920240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1993392"/>
            <a:ext cx="8193024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99339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– physisch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395728" y="199339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 überhaupt eine Verbindung da?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961888" y="1993392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ipconfig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34086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– Sicherung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95728" y="2340864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 sehe ich im lokalen Netz?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61888" y="2340864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arp -a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688336"/>
            <a:ext cx="8193024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68833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– Vermittlung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95728" y="268833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Erreiche ich das Ziel, und wie?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961888" y="2688336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 / tracert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03580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– Transport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395728" y="3035808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 der Port offen?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961888" y="3035808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Test-NetConnection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383280"/>
            <a:ext cx="8193024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38328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Anwendung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395728" y="338328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Kennt jemand diesen Namen?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961888" y="3383280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nslookup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3886200"/>
            <a:ext cx="8010144" cy="5029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28" name="Shape 26"/>
          <p:cNvSpPr/>
          <p:nvPr/>
        </p:nvSpPr>
        <p:spPr>
          <a:xfrm>
            <a:off x="566928" y="3886200"/>
            <a:ext cx="41148" cy="50292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" y="4032504"/>
            <a:ext cx="7607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macOS und Linux: ip addr · traceroute · nc -vz host port · dig statt nslookup.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16/26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Schichten-Check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euer eigener Rechner ist das Labor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messt an eurem eigenen Rechner nach, was wir gerade an der Tafel hatten. Keine Installation nötig.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874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7452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Netz-Steckbrief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98448" y="2441448"/>
            <a:ext cx="162763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Sechs Werte über euren Rechner heraussuchen – und jedem die richtige Schicht zuordnen.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10128" y="1975104"/>
            <a:ext cx="2523744" cy="1874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10"/>
          <p:cNvSpPr/>
          <p:nvPr/>
        </p:nvSpPr>
        <p:spPr>
          <a:xfrm>
            <a:off x="3310128" y="1975104"/>
            <a:ext cx="41148" cy="187452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41648" y="212140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Schichten live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41648" y="2441448"/>
            <a:ext cx="162763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Befehle ausführen und notieren, welche Schicht jeder davon beweist.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53328" y="1975104"/>
            <a:ext cx="2523744" cy="1874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5"/>
          <p:cNvSpPr/>
          <p:nvPr/>
        </p:nvSpPr>
        <p:spPr>
          <a:xfrm>
            <a:off x="6053328" y="1975104"/>
            <a:ext cx="41148" cy="187452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84848" y="212140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Fehlerbilder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784848" y="2441448"/>
            <a:ext cx="162763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Störungen einsortieren: Welche Schicht ist schuld, welcher Befehl zeigt es?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3 ist die wichtigste. Wer früh fertig ist, bekommt die Kür in Station 4.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17/26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27632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Gruppen zu dritt oder viert. Einer teilt den Bildschirm, alle tippen bei sich mit.</a:t>
            </a:r>
            <a:endParaRPr lang="en-US" sz="13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unter Windows die PowerShell, nicht die alte Eingabeaufforderung.</a:t>
            </a:r>
            <a:endParaRPr lang="en-US" sz="13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Schreibt eure Ergebnisse ins gemeinsame Dokument – wir gehen sie nachher durch.</a:t>
            </a:r>
            <a:endParaRPr lang="en-US" sz="13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Werte sehen anders aus als meine Beispiele. Genau das ist der Punkt.</a:t>
            </a:r>
            <a:endParaRPr lang="en-US" sz="13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komme in jeden Raum. Wenn es klemmt: ruft mich, oder schreibt in den Chat.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3703320"/>
            <a:ext cx="8010144" cy="731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703320"/>
            <a:ext cx="41148" cy="73152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849624"/>
            <a:ext cx="7607808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Anleitung mit allen Befehlen und Notizfeldern steht auf der Kursseite: Netzwerke → Praxis: Der Schichten-Check.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18/26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– der Netz-Steckbrief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Findet diese sechs Werte und schreibt daneben, zu welcher Schicht sie gehören.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20240"/>
            <a:ext cx="8010144" cy="1463040"/>
          </a:xfrm>
          <a:prstGeom prst="rect">
            <a:avLst/>
          </a:prstGeom>
          <a:solidFill>
            <a:srgbClr val="EEF0FB"/>
          </a:solidFill>
          <a:ln w="12700">
            <a:solidFill>
              <a:srgbClr val="DFE3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20240"/>
            <a:ext cx="8010144" cy="21945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929384"/>
            <a:ext cx="7717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3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2231136"/>
            <a:ext cx="764438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 C:\&gt; ipconfig /all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7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macOS / Linux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7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ip addr        # oder: ifconfig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7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ip route       # Zeile "default via ..." = Gateway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6928" y="3493008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IPv4-Adresse und Subnetzmaske · Standardgateway · DNS-Server</a:t>
            </a:r>
            <a:endParaRPr lang="en-US" sz="12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Physische Adresse (MAC) · DHCP aktiviert ja oder nein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Achtung: Der richtige Adapter ist der mit einem Standardgateway.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19/26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 – die Schichten in Aktion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691640"/>
          </a:xfrm>
          <a:prstGeom prst="rect">
            <a:avLst/>
          </a:prstGeom>
          <a:solidFill>
            <a:srgbClr val="EEF0FB"/>
          </a:solidFill>
          <a:ln w="12700">
            <a:solidFill>
              <a:srgbClr val="DFE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627632"/>
            <a:ext cx="8010144" cy="21945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636776"/>
            <a:ext cx="7717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3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9808" y="1938528"/>
            <a:ext cx="764438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ping &lt;euer Gateway&gt;            # kommt ihr bis zum Router?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7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arp -a                         # wen sieht euer Rechner lokal?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7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nslookup github.com            # welche IP steckt hinter dem Namen?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7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tracert github.com             # welchen Weg nimmt das Paket?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7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Test-NetConnection github.com -Port 443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3456432"/>
            <a:ext cx="8010144" cy="9144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3456432"/>
            <a:ext cx="41148" cy="9144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" y="3602736"/>
            <a:ext cx="7607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Aufgabe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4672" y="3886200"/>
            <a:ext cx="7607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Notiert zu jedem Befehl: Welche Schicht prüft er, und woran seht ihr das in der Ausgabe? Bei tracert reichen die ersten fünf Zeilen.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20/26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3 – fünf Störungen einsortieren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jedem Fall: Welche Schicht ist betroffen, und mit welchem Befehl weist ihr es nach?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Netzwerksymbol zeigt ein rotes Kreuz, kein Kabel steckt.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Rechner hat die Adresse 169.254.12.7 und kommt nirgendwo hin.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 8.8.8.8 funktioniert, ping google.de bringt einen Fehler.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Server antwortet auf ping, aber die Webseite lädt nicht.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ist erreichbar, aber quälend langsam.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Genau so landen diese Fälle im Job auf eurem Tisch – meist als „Internet geht nicht“.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21/26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FÜR SCHNELLE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4 – die Kür: Wege vergleichen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ihr früh fertig seid: Vergleicht eure Ausgaben von tracert untereinander.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80101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führt tracert github.com aus und teilt die ersten fünf Zeilen.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welchem Punkt sehen eure Wege gleich aus – und wo unterscheiden sie sich?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Zeilen gehören noch zu eurem eigenen Netz, welche schon zum Anbieter?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hat der erste Hop bei fast allen eine Adresse, die mit 192.168 beginnt?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703320"/>
            <a:ext cx="8010144" cy="731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703320"/>
            <a:ext cx="41148" cy="73152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849624"/>
            <a:ext cx="7607808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Gewinn dabei: Ihr seht an echten Daten, dass es keinen einen Weg ins Internet gibt – jeder von euch nimmt einen anderen, bis sie sich irgendwo treffen.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22/26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Zusammentragen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habt ihr gefunden – und was hat euch überrascht?</a:t>
            </a:r>
            <a:endParaRPr lang="en-US" sz="13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37360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Reihum: eine Gruppe zeigt ihren Steckbrief, die anderen ergänzen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21408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hat fast jeder eine 192.168er-Adresse? – private Adressbereiche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0545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05456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fünf Befehle, jeder einer Schicht zugeordnet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88950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889504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fünf Störungen – auflösen und begründen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78408" y="3273552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war unerwartet? Woran seid ihr hängengeblieben?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703320"/>
            <a:ext cx="8010144" cy="713232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703320"/>
            <a:ext cx="41148" cy="7132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849624"/>
            <a:ext cx="760780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Wichtiger als die richtige Antwort ist die Begründung: Woran habt ihr die Schicht erkannt? Wer das sagen kann, findet auch den nächsten Fehler.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23/26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Auflösung der fünf Störungen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6276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61488" y="16276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90288" y="1627632"/>
            <a:ext cx="3895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Nachweis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920240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1993392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99339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Kabel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761488" y="199339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– physisch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90288" y="1993392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ipconfig: Medium getrennt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37744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169.254.x.x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761488" y="23774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– Adresse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90288" y="2377440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DHCP erreichbar, Selbstvergabe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761488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76148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Name geht nicht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761488" y="276148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DNS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90288" y="2761488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nslookup schlägt fehl, ping auf IP klappt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1455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 ja, Web nein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761488" y="314553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oder 7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90288" y="3145536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Test-NetConnection auf Port 443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529584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2958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langsam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761488" y="35295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Ausfall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90288" y="3529584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Latenz und Verlust in ping ansehen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Von unten nach oben prüfen. Die erste Schicht, die nicht antwortet, ist die Ursache.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24/26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Netz braucht drei Dinge: Verbindung, Adressen, Regeln.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Dieselben Daten heißen je nach Schicht Frame, Paket oder Segment.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hat sieben Schichten, TCP/IP vier – ihr müsst sie zuordnen können.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Bandbreite ist nicht Geschwindigkeit. Latenz ist die andere Hälfte.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Fehlersuche heißt: von unten nach oben, Schicht für Schicht.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3995928"/>
            <a:ext cx="7607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Schichtenmodell · OSI · TCP/IP · Topologie · Client-Server · Latenz · Bandbreite · Frame, Paket, Segment. Diese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25/26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Montag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freiwillig – aber der Montag wird deutlich leichter, wenn ihr das gemacht habt.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Seiten „Grundbegriffe“ und „OSI- und TCP/IP-Modell“ in Ruhe durchgehen, inklusive der Selbstkontrollfragen am Ende.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Nachholen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im Breakout nicht bis Station 3 gekommen ist: Der Schichten-Check steht vollständig auf der Kursseite.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Vorbereiten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Montag rechnen wir Subnetze. Bringt Papier, Stift und einen wachen Kopf mit – Taschenrechner braucht ihr nicht.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Montag, 31. August, 18:00 Uhr – Adressierung und Subnetting.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26/26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von heute steht zum Nachlesen auf der Kursseite – der ganze Netzwerk-Block ist schon online.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31. August · Adressierung und Subnetting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Netzwerke – Grundlagen, Begriffe und Schichtenmodelle</dc:title>
  <dc:subject>Abend 1 im Themenblock Planung, Konzeptionierung, Integration</dc:subject>
  <dc:creator>Jacob Menge</dc:creator>
  <cp:lastModifiedBy>Jacob Menge</cp:lastModifiedBy>
  <cp:revision>1</cp:revision>
  <dcterms:created xsi:type="dcterms:W3CDTF">2026-08-26T12:39:58Z</dcterms:created>
  <dcterms:modified xsi:type="dcterms:W3CDTF">2026-08-26T12:39:58Z</dcterms:modified>
</cp:coreProperties>
</file>