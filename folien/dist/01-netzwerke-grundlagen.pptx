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– das Fundament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auf gemeinsamen Stand – und der Blick auf das, was dort meist zu kurz kam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26.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bauen wir gemeinsam das Bild auf, dann messt ihr es an eurem eigenen Rechner nach.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572768" y="195681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Technik, Einstieg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1945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572768" y="219456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– und was bisher meist zu kurz kam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" y="243230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323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572768" y="243230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im Schnellgang: Topologien, Dateneinheiten, Kennzahlen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26700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572768" y="26700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8912" y="290779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29077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572768" y="29077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TCP/IP, Kapselung, der Werkzeugkasten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66928" y="3145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19:20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572768" y="31455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" y="338328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3832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572768" y="33832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der Schichten-Check am eigenen Rechner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36210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20:25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572768" y="36210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im Plenum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8912" y="385876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8587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572768" y="38587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und offene Fragen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jederzeit dazwischen – lieber sofort als drei Folien später.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1/25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Frage, an der wir uns festhalten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600200"/>
            <a:ext cx="7461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 technisch,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github.com in den Browser tippe?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3154680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1546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300984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Ende dieses Blocks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602736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erklärt ihr das am Stück, ohne ins Stocken zu geraten – von der Namensauflösung über die Verbindung bis zur fertigen Seite.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legen wir das Raster, in das später jede Antwort einsortiert wird.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2/25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 gerade stehen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sind der erste Baustein von Thema 1 – und das Vokabular für alles, was danach kommt.</a:t>
            </a:r>
            <a:endParaRPr lang="en-US" sz="1300" dirty="0"/>
          </a:p>
        </p:txBody>
      </p:sp>
      <p:pic>
        <p:nvPicPr>
          <p:cNvPr id="6" name="Image 0" descr="/Users/jacobmenge/Desktop/kurs-unterlagen/folien/assets/diagramme/weg-them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737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395935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391363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Container-Netze, Cloud-Subnetze, Sicherheitszonen: dieselben Begriffe, anderer Ort.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3/25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zuerst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Querschnittsthema, auf dem der ganze Kurs aufbaut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wir mit Bekanntem anfangen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seid ausgebildete Fachinformatiker. Das meiste von heute Abend habt ihr schon einmal gehört – und das ist Absicht.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Gemeinsame Sprache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kommt aus verschiedenen Betrieben und Jahrgängen. Ab Montag rechnen wir – da müssen die Begriffe bei allen gleich sitzen.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Standortbestimmung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der Ausbildung liegt vieles ein paar Jahre zurück. Heute merkt jeder selbst, wo es hakt – ohne dass es jemand mitbekommt.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neue Teil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Industrie- und Anlagenvernetzung kam in den meisten Ausbildungen höchstens am Rand vor. Dort liegt der Kern dieser Fortbildung.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es schnell gehen. Sagt Bescheid, wenn ich zu schnell bin – oder zu langsam.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4/25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PRAXISBEZUG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Situationen aus dem Berufsalltag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allen drei Fällen entscheidet Netzwerkwissen darüber, ob das Projekt gelingt.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diagramme/icon-standort-3843A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2032" y="2103120"/>
            <a:ext cx="402336" cy="40233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121408"/>
            <a:ext cx="1591056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Filiale anbinden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" y="2623820"/>
            <a:ext cx="2121408" cy="1152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Subnetz? Wie kommt sie sicher an die Zentrale? Wer vergibt die Adressen?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3" name="Image 1" descr="/Users/jacobmenge/Desktop/kurs-unterlagen/folien/assets/diagramme/icon-anlage-0F7C8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2103120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47872" y="2121408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Anlage ans MES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47872" y="2441448"/>
            <a:ext cx="15910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Maschine spricht Profinet oder OPC UA, die Auswertung erwartet MQTT. Wer übersetzt?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8" name="Image 2" descr="/Users/jacobmenge/Desktop/kurs-unterlagen/folien/assets/diagramme/icon-cloud-9A63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2103120"/>
            <a:ext cx="402336" cy="40233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91072" y="2121408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in die Cloud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291072" y="2441448"/>
            <a:ext cx="15910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 Anwendung, neuer Ort. Latenz, Adressen und Firewall-Regeln ändern sich alle.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drei Fälle begleiten uns durch den ganzen Kurs.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5/25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WELTEN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 trifft Industrie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 heißt „Systemintegration und Vernetzung“ – gemeint sind beide Welten.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70048" y="19751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47488" y="197510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 und Anlagen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Vorrang hat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048" y="23408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Vertraulichkeit der Daten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47488" y="2340864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der Anlage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Zeitverhalten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048" y="267004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„schnell genug“ reicht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47488" y="2670048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garantierte Reaktionszeiten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Lebensdauer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670048" y="29992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bis 5 Jahre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47488" y="2999232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bis 25 Jahre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Typische Protokolle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70048" y="332841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SSH, SMB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47488" y="3328416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70048" y="3657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regelmäßig eingeplant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47488" y="3657600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im Wartungsfenster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beide Welten verbindet, muss die Regeln von beiden Seiten kennen.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6/25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KERN DIESER FORTBILDUNG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bisher meist zu kurz kam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Ausbildung hat euch die Office-IT gegeben. Hier kommt die andere Hälfte dazu.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Kennt ihr schon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Subnetting und Routing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DNS, DHCP, VLAN, VPN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Switches, Firewalls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Kommt neu dazu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Cyber-physische Systeme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und Orchestrierung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rechnen, BCM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ISMS und Testmanagement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eigentliche Sprung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623820"/>
            <a:ext cx="2121408" cy="1152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Ausführen zum Planen.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habt Systeme betrieben – jetzt konzipiert, bewertet und verantwortet ihr sie.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Netzwerkabende sind der einzige größere Wiederholungsteil. Ab Abend 7 wird es für die meisten neu.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7/25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Begriffe, bei denen es gern auseinandergeht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520440"/>
            <a:ext cx="8010144" cy="868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520440"/>
            <a:ext cx="41148" cy="86868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6674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den Chat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954526"/>
            <a:ext cx="7607808" cy="31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ist euch jede dieser Formen schon begegnet – im Job oder zuhause? Ein Beispiel je Form reicht. Aufgelöst wird Klick für Klick.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8/25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474720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Büro-LAN am Switch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am Access Point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kurz: fast jedes LAN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9/25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474720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Büro-LAN am Switch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am Access Point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kurz: fast jedes LAN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15184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7"/>
          <p:cNvSpPr/>
          <p:nvPr/>
        </p:nvSpPr>
        <p:spPr>
          <a:xfrm>
            <a:off x="2615184" y="3474720"/>
            <a:ext cx="41148" cy="841248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8"/>
          <p:cNvSpPr/>
          <p:nvPr/>
        </p:nvSpPr>
        <p:spPr>
          <a:xfrm>
            <a:off x="2852928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Maschinennetz mit MRP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Metro-Ringe im WAN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Token Ring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10/25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474720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Büro-LAN am Switch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am Access Point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kurz: fast jedes LAN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15184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7"/>
          <p:cNvSpPr/>
          <p:nvPr/>
        </p:nvSpPr>
        <p:spPr>
          <a:xfrm>
            <a:off x="2615184" y="3474720"/>
            <a:ext cx="41148" cy="841248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8"/>
          <p:cNvSpPr/>
          <p:nvPr/>
        </p:nvSpPr>
        <p:spPr>
          <a:xfrm>
            <a:off x="2852928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Maschinennetz mit MRP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Metro-Ringe im WAN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Token Ring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3" name="Shape 10"/>
          <p:cNvSpPr/>
          <p:nvPr/>
        </p:nvSpPr>
        <p:spPr>
          <a:xfrm>
            <a:off x="4663440" y="3474720"/>
            <a:ext cx="41148" cy="841248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4" name="Text 11"/>
          <p:cNvSpPr/>
          <p:nvPr/>
        </p:nvSpPr>
        <p:spPr>
          <a:xfrm>
            <a:off x="4901184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CAN-Bus im Auto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Profibus, Modbus RTU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Koax-Ethernet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11/25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474720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Büro-LAN am Switch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am Access Point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kurz: fast jedes LAN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15184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7"/>
          <p:cNvSpPr/>
          <p:nvPr/>
        </p:nvSpPr>
        <p:spPr>
          <a:xfrm>
            <a:off x="2615184" y="3474720"/>
            <a:ext cx="41148" cy="841248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8"/>
          <p:cNvSpPr/>
          <p:nvPr/>
        </p:nvSpPr>
        <p:spPr>
          <a:xfrm>
            <a:off x="2852928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Maschinennetz mit MRP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Metro-Ringe im WAN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Token Ring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3" name="Shape 10"/>
          <p:cNvSpPr/>
          <p:nvPr/>
        </p:nvSpPr>
        <p:spPr>
          <a:xfrm>
            <a:off x="4663440" y="3474720"/>
            <a:ext cx="41148" cy="841248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4" name="Text 11"/>
          <p:cNvSpPr/>
          <p:nvPr/>
        </p:nvSpPr>
        <p:spPr>
          <a:xfrm>
            <a:off x="4901184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CAN-Bus im Auto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Profibus, Modbus RTU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Koax-Ethernet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711696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Shape 13"/>
          <p:cNvSpPr/>
          <p:nvPr/>
        </p:nvSpPr>
        <p:spPr>
          <a:xfrm>
            <a:off x="6711696" y="347472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7" name="Text 14"/>
          <p:cNvSpPr/>
          <p:nvPr/>
        </p:nvSpPr>
        <p:spPr>
          <a:xfrm>
            <a:off x="6949440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 im Internet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WLAN-Mesh zuhause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Spine-Leaf im RZ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12/25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DATENEINHEITEN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fließt eigentlich durch das Netz?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Namen für dieselben Daten. Der Unterschied ist nur, was drumherum steht.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Einheit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892808" y="19751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30168" y="197510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drumherum steht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5669280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892808" y="234086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physisch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30168" y="2340864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– nur das Signal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892808" y="26700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– Sicherung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630168" y="267004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von Sender und Empfänger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5669280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892808" y="299923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Vermittlung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630168" y="2999232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von Quelle und Ziel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892808" y="332841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– Transport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630168" y="332841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Portnummern, Reihenfolge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5669280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892808" y="365760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Anwendung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630168" y="36576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eigentliche Nachricht</a:t>
            </a:r>
            <a:endParaRPr lang="en-US" sz="1150" dirty="0"/>
          </a:p>
        </p:txBody>
      </p:sp>
      <p:pic>
        <p:nvPicPr>
          <p:cNvPr id="28" name="Image 0" descr="/Users/jacobmenge/Desktop/kurs-unterlagen/folien/assets/diagramme/dateneinheit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340864"/>
            <a:ext cx="2304288" cy="164592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jemand von „Paket“ spricht, meint er Layer 3. Bei „Frame“ ist er auf Layer 2.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13/25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KENNZAHLEN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Geschwindigkeit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bandbreite-lat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27632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46704"/>
            <a:ext cx="25237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493008"/>
            <a:ext cx="21214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Jitter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780790"/>
            <a:ext cx="21214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Schwankende Latenz. Stört Sprache und Video.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10128" y="3346704"/>
            <a:ext cx="25237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493008"/>
            <a:ext cx="21214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Paketverlust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780790"/>
            <a:ext cx="21214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unterwegs verloren geht. TCP holt es nach – das kostet Zeit.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053328" y="3346704"/>
            <a:ext cx="25237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493008"/>
            <a:ext cx="21214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Alltagsfall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780790"/>
            <a:ext cx="21214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Leitung ist zu klein" stimmt selten. Meist wartet etwas anderes.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14/25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denken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wichtigste Werkzeug des ganzen Abends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GRUNDIDEE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überhaupt Schichten?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Bekannt – aber die wenigsten benutzen es im Alltag wirklich. Genau darum geht es heute.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löst ein Problem und nutzt die Schicht darunter.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ist austauschbar: WLAN statt Kabel ändert nichts an eurer Anwendung.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lassen sich eingrenzen, statt zu raten. Das ist der Alltagsnutzen.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Auch die Abwehr sitzt schichtweise: Portsicherheit auf 2, Firewall auf 3 und 4, Web-Filter auf 7.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520440"/>
            <a:ext cx="8010144" cy="8686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520440"/>
            <a:ext cx="41148" cy="868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66674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Nutzen im Alltag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954526"/>
            <a:ext cx="7607808" cy="31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Fehler sitzt immer auf einer bestimmten Schicht. Wer die findet, hört auf zu raten. Das ist der ganze Trick – und der Rest des Abends.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15/25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beiden Modelle nebeneinander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osi-tcp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514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Faustregel: OSI zum Erklären, TCP/IP zum Arbeiten – die Schicht-Nummern nimmt trotzdem jeder aus OSI.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16/25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MIT EUREN DATEN PASSIERT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 – der Umschlag im Umschlag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kapsel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874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584448"/>
            <a:ext cx="8010144" cy="804672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584448"/>
            <a:ext cx="41148" cy="80467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730752"/>
            <a:ext cx="760780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Deshalb kann ein Router die IP lesen, ohne die Anwendung zu kennen: Er packt nur bis Schicht 3 aus, entscheidet, wohin es weitergeht, und verpackt wieder. Was darin steckt, geht ihn nichts an.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17/25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Befehl je Schicht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diagnose-lei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858768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858768"/>
            <a:ext cx="41148" cy="5486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4005072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macOS: ifconfig · arp -a · traceroute · dig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Linux: ip -brief addr · ip neigh · tracepath · resolvectl query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18/25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Schichten-Check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Minuten in Gruppen – euer eigener Rechner ist das Labor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messt ihr an eurem eigenen Rechner nach, was wir eben zusammen aufgebaut haben. Nichts zu installieren.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195681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Netz-Steckbrief: sechs Werte, jeder auf seine Schicht einsortiert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2257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2257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Befehle – und die Frage, was ein Erfolg jeweils beweist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688336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68833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68833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Störungen einsortieren. Das ist der Kern, dafür ist Zeit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0540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05409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Wegverfolgungen nebeneinanderlegen und vergleichen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529584"/>
            <a:ext cx="8010144" cy="87782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529584"/>
            <a:ext cx="41148" cy="877824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675888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3963670"/>
            <a:ext cx="7607808" cy="324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Befehle für alle drei Systeme:   jacobmenge.github.io/kurs-unterlagen/netzwerke/praxis-schichten-check/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 &lt;Link zum Ergebnis-Dokument hier eintragen&gt;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19/25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Bildschirm, alle tippen bei sich mit.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jetzt, bevor die Räume aufgehen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und euer Auswertungsfall stehen fest – bearbeitet trotzdem alle fünf Störungen.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Windows: PowerShell, nicht die Eingabeaufforderung. Test-NetConnection gibt es nur dort.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20:25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mit. Was nicht im Dokument steht, haben wir nachher nicht.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20/25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STATION 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jedem Fall drei Antworten: Welche Schicht? Welcher Befehl weist es nach? Und was steckt wahrscheinlich dahinter?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801014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Netzwerksymbol zeigt ein Kreuz, es steckt kein Kabel.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Rechner hat die Adresse 169.254.12.7 und kommt nirgends hin.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8.8.8.8 läuft, ping google.de bringt einen Fehler.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Server antwortet auf ping, aber die Webseite lädt nicht.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ist erreichbar, aber quälend langsam.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mindestens zweien ist die naheliegende Antwort nicht die vollständige.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21/25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Zusammentragen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habt ihr gefunden – und was hat euch überrascht?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645920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4592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78408" y="1645920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Steckbrief – und warum fast alle eine 192.168er-Adresse haben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78408" y="1993392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fe80::-Adresse, die dabei mit aufgetaucht ist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34086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40864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78408" y="2340864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Befehle: Was beweist ein Erfolg, was beweist er nicht?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688336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78408" y="2688336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Störungen: jede Gruppe begründet ihren Fall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035808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03580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78408" y="3035808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danach die Auflösung – und die Fälle, bei denen es nicht reicht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338328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78408" y="3383280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 der Kür war: zwei Wegverfolgungen nebeneinander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8912" y="3730752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73075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8408" y="3730752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Satz: Was hat euch überrascht?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Begründung zählt mehr als die Antwort. Woran habt ihr die Schicht erkannt?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22/25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61488" y="16276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90288" y="162763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Nachweis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993392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933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Kabel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61488" y="19933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90288" y="199339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ipconfig: Medium getrennt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3774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169.254.x.x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61488" y="23774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 auf 3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90288" y="2377440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Ursache: kein DHCP erreichbar – oder Schicht 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761488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7614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Name geht nicht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61488" y="276148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DNS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90288" y="2761488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nslookup scheitert, ping auf die IP läuft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1455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ja, Web nein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61488" y="31455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oder 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90288" y="3145536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Test-NetConnection oder nc -vz auf Port 443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29584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2958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langsam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761488" y="35295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Ausfall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90288" y="3529584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 und Verlust in der ping-Ausgabe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unten nach oben. Die unterste stumme Schicht sagt euch, wo ihr weitersucht – nicht immer, woran es liegt.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23/25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Dieselben Daten heißen je nach Schicht Frame, Paket oder Segment.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Kapselung: nichts wird ersetzt, es kommt nur außen etwas dazu.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sieben Schichten, TCP/IP vier – gemessen habt ihr heute auf allen außer 5 und 6.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Geschwindigkeit. Latenz ist die andere Hälfte.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Fehlersuche: von unten nach oben, und jeder Befehl beweist nur seine Schicht.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Schichtenmodell · OSI · TCP/IP · Topologie · Latenz · Bandbreite · Jitter · Frame, Paket, Segment · Kapselung.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24/25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Bitte und zwei Angebote – die Bitte zuerst.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Standortbestimmung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Formular aus dem Chat: gut 20 Minuten, bis Montag. Kein Test – es zeigt mir, wo wir gründlich einsteigen müssen.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etwas hakte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„Grundbegriffe“ und „OSI und TCP/IP“ stehen auf der Kursseite. Und wer nicht bis zu den Störungen kam: Station 3 lohnt sich.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 rechnen wir Subnetze. Papier und Stift reichen – Taschenrechner braucht ihr nicht.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31. August, 18:00 Uhr – Adressierung und Subnetting.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25/25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von heute steht zum Nachlesen auf der Kursseite – der ganze Netzwerk-Block ist schon online.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· Adressierung und Subnetting · Papier und Stift mitbringen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Netzwerke – Grundlagen, Begriffe und Schichtenmodelle</dc:title>
  <dc:subject>Abend 1 im Themenblock Planung, Konzeptionierung, Integration</dc:subject>
  <dc:creator>Jacob Menge</dc:creator>
  <cp:lastModifiedBy>Jacob Menge</cp:lastModifiedBy>
  <cp:revision>1</cp:revision>
  <dcterms:created xsi:type="dcterms:W3CDTF">2026-08-26T15:30:37Z</dcterms:created>
  <dcterms:modified xsi:type="dcterms:W3CDTF">2026-08-26T15:30:37Z</dcterms:modified>
</cp:coreProperties>
</file>