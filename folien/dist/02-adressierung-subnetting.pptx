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jacobmenge/Desktop/kurs-unterlagen/folien/assets/icons/cloudheld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6680" y="365760"/>
            <a:ext cx="868680" cy="8686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1280160"/>
            <a:ext cx="7635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THEMA 1 · ABEND 2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914400" y="1682496"/>
            <a:ext cx="76352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Adressierung und Subnetting</a:t>
            </a:r>
            <a:endParaRPr lang="en-US" sz="3300" dirty="0"/>
          </a:p>
        </p:txBody>
      </p:sp>
      <p:sp>
        <p:nvSpPr>
          <p:cNvPr id="6" name="Text 3"/>
          <p:cNvSpPr/>
          <p:nvPr/>
        </p:nvSpPr>
        <p:spPr>
          <a:xfrm>
            <a:off x="914400" y="2761488"/>
            <a:ext cx="7635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Heute wird gerechnet – Papier und Stift reichen, Taschenrechner braucht ihr nicht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914400" y="3986784"/>
            <a:ext cx="1828800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4078224"/>
            <a:ext cx="7635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Montag, 31. August 2026 · 18:00–21:00 Uhr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ABLAUF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uns heute Abend erwartet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810512"/>
            <a:ext cx="8266176" cy="25603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81051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18:00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572768" y="1810512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Eure Standortbestimmung – die ersten Ergebnisse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66928" y="2066544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18:10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572768" y="2066544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Adresse auseinandergenommen: Aufbau, Maske, Präfixe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8912" y="2322576"/>
            <a:ext cx="8266176" cy="25603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32257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18:25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572768" y="2322576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Rechnen: Blockgrößen, Netz- und Broadcast-Adresse, drei Aufgaben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257860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18:45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572768" y="2578608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38912" y="2834640"/>
            <a:ext cx="8266176" cy="25603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283464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18:55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572768" y="2834640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Adressen und NAT – und IPv6 kompakt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66928" y="309067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19:15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572768" y="3090672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Briefing für die Breakout-Übung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38912" y="3346704"/>
            <a:ext cx="8266176" cy="25603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1" name="Text 19"/>
          <p:cNvSpPr/>
          <p:nvPr/>
        </p:nvSpPr>
        <p:spPr>
          <a:xfrm>
            <a:off x="566928" y="3346704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19:25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572768" y="3346704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Breakout: Subnetz-Architekten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66928" y="360273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20:15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572768" y="3602736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Auswertung: eure Netzpläne im Vergleich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38912" y="3858768"/>
            <a:ext cx="8266176" cy="25603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6" name="Text 24"/>
          <p:cNvSpPr/>
          <p:nvPr/>
        </p:nvSpPr>
        <p:spPr>
          <a:xfrm>
            <a:off x="566928" y="385876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20:50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572768" y="3858768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Ausblick auf Mittwoch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66928" y="4233672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9" name="Text 27"/>
          <p:cNvSpPr/>
          <p:nvPr/>
        </p:nvSpPr>
        <p:spPr>
          <a:xfrm>
            <a:off x="749808" y="4187952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 Mittwoch schließen wir den Netzwerkblock ab – danach geht es in die Virtualisierung.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1/20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VON 14 HABEN GEANTWORTET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Eure Standortbestimmung – danke!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Drei Netzwerkfragen aus dem Formular. Zwei davon habt ihr komplett abgeräumt.</a:t>
            </a:r>
            <a:endParaRPr lang="en-US" sz="1300" dirty="0"/>
          </a:p>
        </p:txBody>
      </p:sp>
      <p:pic>
        <p:nvPicPr>
          <p:cNvPr id="6" name="Image 0" descr="/Users/jacobmenge/Desktop/kurs-unterlagen/folien/assets/diagramme/umfrage-netz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920240"/>
            <a:ext cx="8010144" cy="18745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dritte Frage ist kein Zufallstreffer – am Ende des Abends beantwortet sie jeder hier im Schlaf.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2/20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Adresse auseinandergenommen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in 192.168.2.33/24 wirklich drinsteckt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AUFBAU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Adresse, zwei Hälften</a:t>
            </a:r>
            <a:endParaRPr lang="en-US" sz="2600" dirty="0"/>
          </a:p>
        </p:txBody>
      </p:sp>
      <p:pic>
        <p:nvPicPr>
          <p:cNvPr id="5" name="Image 0" descr="/Users/jacobmenge/Desktop/kurs-unterlagen/folien/assets/diagramme/ip-aufba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54480"/>
            <a:ext cx="8010144" cy="21488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Maske zieht die Grenze: Alles unter den Einsen ist Netz, der Rest gehört dem Gerät.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Adresse und Maske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3/20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REFERENZ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Präfixe, mit denen ihr rechnen werdet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Euer Werkzeug für heute. Blockgröße = 2 hoch Hostbits – jeder Schritt halbiert.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58368" y="1783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Präfix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572768" y="17830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Maske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3493008" y="178308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Blockgröße · nutzbar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66928" y="2075688"/>
            <a:ext cx="5486400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75488" y="2148840"/>
            <a:ext cx="5669280" cy="28346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" y="2148840"/>
            <a:ext cx="7315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/24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572768" y="2148840"/>
            <a:ext cx="1737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255.255.255.0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493008" y="2148840"/>
            <a:ext cx="2468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256 · 254 Geräte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58368" y="2432304"/>
            <a:ext cx="7315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/25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572768" y="2432304"/>
            <a:ext cx="1737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255.255.255.128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493008" y="2432304"/>
            <a:ext cx="2468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128 · 126 Geräte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75488" y="2715768"/>
            <a:ext cx="5669280" cy="28346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8" name="Text 16"/>
          <p:cNvSpPr/>
          <p:nvPr/>
        </p:nvSpPr>
        <p:spPr>
          <a:xfrm>
            <a:off x="658368" y="2715768"/>
            <a:ext cx="7315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/26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572768" y="2715768"/>
            <a:ext cx="1737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255.255.255.192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493008" y="2715768"/>
            <a:ext cx="2468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 · 62 Geräte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58368" y="2999232"/>
            <a:ext cx="7315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/27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572768" y="2999232"/>
            <a:ext cx="1737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255.255.255.224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493008" y="2999232"/>
            <a:ext cx="2468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 · 30 Geräte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75488" y="3282696"/>
            <a:ext cx="5669280" cy="28346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3282696"/>
            <a:ext cx="7315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/28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572768" y="3282696"/>
            <a:ext cx="1737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255.255.255.240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493008" y="3282696"/>
            <a:ext cx="2468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· 14 Geräte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58368" y="3566160"/>
            <a:ext cx="7315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/29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572768" y="3566160"/>
            <a:ext cx="1737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255.255.255.248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3493008" y="3566160"/>
            <a:ext cx="2468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· 6 Geräte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75488" y="3849624"/>
            <a:ext cx="5669280" cy="28346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32" name="Text 30"/>
          <p:cNvSpPr/>
          <p:nvPr/>
        </p:nvSpPr>
        <p:spPr>
          <a:xfrm>
            <a:off x="658368" y="3849624"/>
            <a:ext cx="7315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/30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1572768" y="3849624"/>
            <a:ext cx="1737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255.255.255.252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3493008" y="3849624"/>
            <a:ext cx="2468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· 2 – Router-Kopplung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272784" y="1783080"/>
            <a:ext cx="23042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OFT PASST DER BLOCK INS /24</a:t>
            </a:r>
            <a:endParaRPr lang="en-US" sz="1050" dirty="0"/>
          </a:p>
        </p:txBody>
      </p:sp>
      <p:pic>
        <p:nvPicPr>
          <p:cNvPr id="36" name="Image 0" descr="/Users/jacobmenge/Desktop/kurs-unterlagen/folien/assets/diagramme/praefix-balk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2784" y="2148840"/>
            <a:ext cx="2304288" cy="1984248"/>
          </a:xfrm>
          <a:prstGeom prst="rect">
            <a:avLst/>
          </a:prstGeom>
        </p:spPr>
      </p:pic>
      <p:sp>
        <p:nvSpPr>
          <p:cNvPr id="37" name="Shape 34"/>
          <p:cNvSpPr/>
          <p:nvPr/>
        </p:nvSpPr>
        <p:spPr>
          <a:xfrm>
            <a:off x="566928" y="425196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8" name="Text 35"/>
          <p:cNvSpPr/>
          <p:nvPr/>
        </p:nvSpPr>
        <p:spPr>
          <a:xfrm>
            <a:off x="749808" y="420624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Auffällig: nutzbar ist immer Blockgröße minus 2. Warum – nächste Folie.</a:t>
            </a:r>
            <a:endParaRPr lang="en-US" sz="1200" dirty="0"/>
          </a:p>
        </p:txBody>
      </p:sp>
      <p:sp>
        <p:nvSpPr>
          <p:cNvPr id="39" name="Shape 36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Adresse und Maske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4/20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FRAGE AUS DER UMFRAGE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62 und nicht 64</a:t>
            </a:r>
            <a:endParaRPr lang="en-US" sz="2600" dirty="0"/>
          </a:p>
        </p:txBody>
      </p:sp>
      <p:pic>
        <p:nvPicPr>
          <p:cNvPr id="5" name="Image 0" descr="/Users/jacobmenge/Desktop/kurs-unterlagen/folien/assets/diagramme/block2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600200"/>
            <a:ext cx="8010144" cy="1600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3383280"/>
            <a:ext cx="8010144" cy="9144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3383280"/>
            <a:ext cx="41148" cy="9144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5"/>
          <p:cNvSpPr/>
          <p:nvPr/>
        </p:nvSpPr>
        <p:spPr>
          <a:xfrm>
            <a:off x="804672" y="3529584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 das Gateway?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04672" y="3817366"/>
            <a:ext cx="7607808" cy="3614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Router braucht auch eine Adresse aus dem Block – meist die erste nutzbare. Wer Geräte zählt, plant ihn mit ein: 62 nutzbare heißt 61 für eure Geräte plus das Gateway.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Adresse und Maske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5/20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6F4F5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Jetzt rechnet ihr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Drei Aufgaben, Antworten in den Chat – aufgelöst wird per Klick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VIER SCHRITTEN ZU JEDEM NETZ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Rezept</a:t>
            </a:r>
            <a:endParaRPr lang="en-US" sz="2600" dirty="0"/>
          </a:p>
        </p:txBody>
      </p:sp>
      <p:pic>
        <p:nvPicPr>
          <p:cNvPr id="5" name="Image 0" descr="/Users/jacobmenge/Desktop/kurs-unterlagen/folien/assets/diagramme/rezept-we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72768"/>
            <a:ext cx="8010144" cy="2286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 diesen vier Schritten löst ihr jede Aufgabe von heute – und jede, die euch draußen begegnet.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6/20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RECHNET – ANTWORT IN DEN CHAT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A</a:t>
            </a:r>
            <a:endParaRPr lang="en-US" sz="2600" dirty="0"/>
          </a:p>
        </p:txBody>
      </p:sp>
      <p:pic>
        <p:nvPicPr>
          <p:cNvPr id="5" name="Image 0" descr="/Users/jacobmenge/Desktop/kurs-unterlagen/folien/assets/diagramme/aufgabe-a-fr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874520"/>
            <a:ext cx="8010144" cy="153619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Rezept: Hostbits → Blockgröße → Block finden → minus zwei.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7/20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AUFLÖSUNG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A</a:t>
            </a:r>
            <a:endParaRPr lang="en-US" sz="2600" dirty="0"/>
          </a:p>
        </p:txBody>
      </p:sp>
      <p:pic>
        <p:nvPicPr>
          <p:cNvPr id="5" name="Image 0" descr="/Users/jacobmenge/Desktop/kurs-unterlagen/folien/assets/diagramme/aufgabe-a-geloe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72768"/>
            <a:ext cx="8010144" cy="1536192"/>
          </a:xfrm>
          <a:prstGeom prst="rect">
            <a:avLst/>
          </a:prstGeom>
        </p:spPr>
      </p:pic>
      <p:pic>
        <p:nvPicPr>
          <p:cNvPr id="6" name="Image 1" descr="/Users/jacobmenge/Desktop/kurs-unterlagen/folien/assets/diagramme/block-strah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200400"/>
            <a:ext cx="8010144" cy="1115568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9" name="Text 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8/20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RECHNET – ANTWORT IN DEN CHAT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B</a:t>
            </a:r>
            <a:endParaRPr lang="en-US" sz="2600" dirty="0"/>
          </a:p>
        </p:txBody>
      </p:sp>
      <p:pic>
        <p:nvPicPr>
          <p:cNvPr id="5" name="Image 0" descr="/Users/jacobmenge/Desktop/kurs-unterlagen/folien/assets/diagramme/aufgabe-b-fr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874520"/>
            <a:ext cx="8010144" cy="153619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Rezept: Hostbits → Blockgröße → Block finden → minus zwei.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9/20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AUFLÖSUNG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B</a:t>
            </a:r>
            <a:endParaRPr lang="en-US" sz="2600" dirty="0"/>
          </a:p>
        </p:txBody>
      </p:sp>
      <p:pic>
        <p:nvPicPr>
          <p:cNvPr id="5" name="Image 0" descr="/Users/jacobmenge/Desktop/kurs-unterlagen/folien/assets/diagramme/aufgabe-b-geloe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874520"/>
            <a:ext cx="8010144" cy="153619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Rezept: Hostbits → Blockgröße → Block finden → minus zwei.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10/20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RECHNET – ANTWORT IN DEN CHAT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C</a:t>
            </a:r>
            <a:endParaRPr lang="en-US" sz="2600" dirty="0"/>
          </a:p>
        </p:txBody>
      </p:sp>
      <p:pic>
        <p:nvPicPr>
          <p:cNvPr id="5" name="Image 0" descr="/Users/jacobmenge/Desktop/kurs-unterlagen/folien/assets/diagramme/aufgabe-c-fr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874520"/>
            <a:ext cx="8010144" cy="153619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Rezept: Hostbits → Blockgröße → Block finden → minus zwei.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11/20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AUFLÖSUNG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C</a:t>
            </a:r>
            <a:endParaRPr lang="en-US" sz="2600" dirty="0"/>
          </a:p>
        </p:txBody>
      </p:sp>
      <p:pic>
        <p:nvPicPr>
          <p:cNvPr id="5" name="Image 0" descr="/Users/jacobmenge/Desktop/kurs-unterlagen/folien/assets/diagramme/aufgabe-c-geloe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874520"/>
            <a:ext cx="8010144" cy="153619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Rezept: Hostbits → Blockgröße → Block finden → minus zwei.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12/20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Wem gehört 192.168?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Antwort auf die Frage vom Mittwoch – und der Blick auf IPv6</a:t>
            </a:r>
            <a:endParaRPr lang="en-US" sz="13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IHR ALLE DIESELBE ADRESSE HABEN DÜRFT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Adressen und NAT</a:t>
            </a:r>
            <a:endParaRPr lang="en-US" sz="2600" dirty="0"/>
          </a:p>
        </p:txBody>
      </p:sp>
      <p:pic>
        <p:nvPicPr>
          <p:cNvPr id="5" name="Image 0" descr="/Users/jacobmenge/Desktop/kurs-unterlagen/folien/assets/diagramme/nat-we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54480"/>
            <a:ext cx="8010144" cy="21488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Drei private Bereiche gehören euch: 10.0.0.0/8 · 172.16.0.0/12 · 192.168.0.0/16 – im Internet werden sie nicht geroutet.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 und v6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13/20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BLICK NACH VORN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IPv6 in fünf Minuten</a:t>
            </a:r>
            <a:endParaRPr lang="en-US" sz="2600" dirty="0"/>
          </a:p>
        </p:txBody>
      </p:sp>
      <p:pic>
        <p:nvPicPr>
          <p:cNvPr id="5" name="Image 0" descr="/Users/jacobmenge/Desktop/kurs-unterlagen/folien/assets/diagramme/ipv6-aufba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54480"/>
            <a:ext cx="8010144" cy="17373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3383280"/>
            <a:ext cx="2523744" cy="102412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3383280"/>
            <a:ext cx="41148" cy="102412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5"/>
          <p:cNvSpPr/>
          <p:nvPr/>
        </p:nvSpPr>
        <p:spPr>
          <a:xfrm>
            <a:off x="804672" y="3529584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 Rechnen mehr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04672" y="3831336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Netz ist praktisch immer ein /64 – gerechnet wird beim Anbieter.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310128" y="3383280"/>
            <a:ext cx="2523744" cy="102412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8"/>
          <p:cNvSpPr/>
          <p:nvPr/>
        </p:nvSpPr>
        <p:spPr>
          <a:xfrm>
            <a:off x="3310128" y="3383280"/>
            <a:ext cx="41148" cy="102412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2" name="Text 9"/>
          <p:cNvSpPr/>
          <p:nvPr/>
        </p:nvSpPr>
        <p:spPr>
          <a:xfrm>
            <a:off x="3547872" y="3529584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 Broadcast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3547872" y="3831336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Gezielte Gruppenrufe statt Alle-Rufen – das Minus-zwei entfällt.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6053328" y="3383280"/>
            <a:ext cx="2523744" cy="102412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5" name="Shape 12"/>
          <p:cNvSpPr/>
          <p:nvPr/>
        </p:nvSpPr>
        <p:spPr>
          <a:xfrm>
            <a:off x="6053328" y="3383280"/>
            <a:ext cx="41148" cy="102412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6" name="Text 13"/>
          <p:cNvSpPr/>
          <p:nvPr/>
        </p:nvSpPr>
        <p:spPr>
          <a:xfrm>
            <a:off x="6291072" y="3529584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 NAT-Zwang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6291072" y="3831336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Adressen genug für alle – die Trennung übernimmt die Firewall.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 und v6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14/20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FBF2E3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Subnetz-Architekten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Minuten in Gruppen – ihr plant das Netz der Müller GmbH</a:t>
            </a:r>
            <a:endParaRPr lang="en-US" sz="13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 · 50 MINUTEN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Auftrag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Müller GmbH zieht um. Ihr bekommt ein /24 und schneidet daraus die Abteilungsnetze – nur mit Stift, Papier und dem Rezept von eben.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38912" y="2011680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201168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min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435608" y="2011680"/>
            <a:ext cx="7141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 Abteilung die Hostbits bestimmen – Formel: 2 hoch n minus 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66928" y="2395728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min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435608" y="2395728"/>
            <a:ext cx="7141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Größte zuerst: Präfixe wählen, Blöcke lückenlos schneiden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8912" y="2779776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" y="2779776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min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435608" y="2779776"/>
            <a:ext cx="7141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Planungstabelle füllen: Netz, erste, letzte, Broadcast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66928" y="3163824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min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435608" y="3163824"/>
            <a:ext cx="7141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Selbstcheck im Online-Subnetzrechner – jede Zeile muss exakt passen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3611880"/>
            <a:ext cx="8010144" cy="841248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17" name="Shape 15"/>
          <p:cNvSpPr/>
          <p:nvPr/>
        </p:nvSpPr>
        <p:spPr>
          <a:xfrm>
            <a:off x="566928" y="3611880"/>
            <a:ext cx="41148" cy="841248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18" name="Text 16"/>
          <p:cNvSpPr/>
          <p:nvPr/>
        </p:nvSpPr>
        <p:spPr>
          <a:xfrm>
            <a:off x="804672" y="3758184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Jetzt öffnen – beides braucht ihr gleich im Raum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04672" y="4045966"/>
            <a:ext cx="7607808" cy="288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mit allen Zahlen:  jacobmenge.github.io/kurs-unterlagen/netzwerke/praxis-subnetting/</a:t>
            </a:r>
            <a:endParaRPr lang="en-US" sz="10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Ergebnisse eintragen:  &lt;Link zum Ergebnis-Dokument hier eintragen&gt;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15/20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SPIELREGELN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arbeitet ihr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700784"/>
            <a:ext cx="801014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Gleiche Gruppen wie beim Schichten-Check. Eine Person teilt den Bildschirm.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Öffnet den Link zur Kursseite jetzt – im Breakout-Raum seht ihr diese Folie nicht mehr.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Rechnet laut und gemeinsam. Wer einen anderen Weg hat: sagen, nicht schweigen.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Online-Rechner ist der Schiedsrichter – aber erst nach eurer Rechnung, nicht statt ihr.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Wenn es klemmt: in eurem Raum auf „Um Hilfe bitten“ klicken. Dann komme ich rein.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66928" y="3602736"/>
            <a:ext cx="8010144" cy="8229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3602736"/>
            <a:ext cx="41148" cy="82296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3749040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20:15 sind alle wieder hier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4036822"/>
            <a:ext cx="7607808" cy="270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Sprecher wie gehabt. Jede Gruppe zeigt nachher ihre Planungstabelle.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16/20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Eure Netzpläne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Vier Lösungen, ein Vergleich – und die Probe aufs Exempel</a:t>
            </a:r>
            <a:endParaRPr lang="en-US" sz="13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 · 35 MINUTEN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gehen wir gemeinsam durch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737360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737360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78408" y="1737360"/>
            <a:ext cx="7598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 Gruppe zeigt ihre Planungstabelle – kurz, nur die Eckwerte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66928" y="2121408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78408" y="2121408"/>
            <a:ext cx="7598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Vergleich: Wo unterscheiden sich die Pläne – und sind beide richtig?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8912" y="2505456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505456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78408" y="2505456"/>
            <a:ext cx="7598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Probe: Passen alle Blöcke zusammen in das /24?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66928" y="2889504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78408" y="2889504"/>
            <a:ext cx="7598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bleibt übrig – und warum ist Reserve kein Fehler?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38912" y="3273552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3273552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978408" y="3273552"/>
            <a:ext cx="7598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Bogen zur Umfrage: die /26-Frage, noch einmal für alle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66928" y="3794760"/>
            <a:ext cx="8010144" cy="54864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19" name="Shape 17"/>
          <p:cNvSpPr/>
          <p:nvPr/>
        </p:nvSpPr>
        <p:spPr>
          <a:xfrm>
            <a:off x="566928" y="3794760"/>
            <a:ext cx="41148" cy="5486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0" name="Text 18"/>
          <p:cNvSpPr/>
          <p:nvPr/>
        </p:nvSpPr>
        <p:spPr>
          <a:xfrm>
            <a:off x="804672" y="3941064"/>
            <a:ext cx="760780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 gibt mehrere richtige Pläne. Falsch ist nur, was sich überlappt oder nicht reicht.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17/20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mögliche Lösung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58368" y="17373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Abteilung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2395728" y="17373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Präfix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3310128" y="1737360"/>
            <a:ext cx="5175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 · nutzbar · Broadcast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66928" y="2029968"/>
            <a:ext cx="8010144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75488" y="2103120"/>
            <a:ext cx="8193024" cy="3657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21031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Büro (100)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2395728" y="210312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/25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310128" y="2103120"/>
            <a:ext cx="5175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192.168.10.0 · .1–.126 · .127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58368" y="24688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Gäste-WLAN (50)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2395728" y="246888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/26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310128" y="2468880"/>
            <a:ext cx="5175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192.168.10.128 · .129–.190 · .191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75488" y="2834640"/>
            <a:ext cx="8193024" cy="3657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7" name="Text 15"/>
          <p:cNvSpPr/>
          <p:nvPr/>
        </p:nvSpPr>
        <p:spPr>
          <a:xfrm>
            <a:off x="658368" y="283464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Produktion (20)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395728" y="283464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/27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3310128" y="2834640"/>
            <a:ext cx="5175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192.168.10.192 · .193–.222 · .223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58368" y="32004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(10)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395728" y="320040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/28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3310128" y="3200400"/>
            <a:ext cx="5175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192.168.10.224 · .225–.238 · .239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75488" y="3566160"/>
            <a:ext cx="8193024" cy="3657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4" name="Text 22"/>
          <p:cNvSpPr/>
          <p:nvPr/>
        </p:nvSpPr>
        <p:spPr>
          <a:xfrm>
            <a:off x="658368" y="356616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Reserve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2395728" y="356616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3310128" y="3566160"/>
            <a:ext cx="5175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.240 bis .255 bleiben frei – Platz zum Wachsen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8" name="Text 26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Größte zuerst vermeidet Lücken. Probe: 128 + 64 + 32 + 16 = 240 ≤ 256 – passt.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18/20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 DES ABENDS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nehmt ihr heute mit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691640"/>
            <a:ext cx="801014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Maske zieht die Grenze zwischen Netzanteil und Hostanteil.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Blockgröße = 2 hoch Hostbits. Nutzbar = Blockgröße minus zwei.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Netzadresse benennt das Netz, Broadcast ruft alle – beide sind reserviert.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 heißt 10er, 172.16er, 192.168er – NAT übersetzt am Router nach draußen.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IPv6 nimmt euch das Rechnen ab – das Netz ist fast immer ein /64.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66928" y="3566160"/>
            <a:ext cx="8010144" cy="96012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3566160"/>
            <a:ext cx="41148" cy="96012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3712464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Begriffe von heute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4000246"/>
            <a:ext cx="7607808" cy="4071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Oktett · Maske · Präfix (CIDR) · Netzanteil, Hostanteil · Blockgröße · Netzadresse, Broadcast · RFC-1918-Bereiche · NAT · Link-local. Die Begriffe begleiten euch bis zum Schluss – im Kurs wie in der Prüfung.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Abschluss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19/20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NACHARBEIT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Bis Mittwoch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Zwei Angebote, keine Pflicht – Mittwoch machen wir den Netzwerkblock fertig.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Nachrechnen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heute noch gestolpert ist: Auf der Seite „Adressierung“ stehen weitere Aufgaben mit Lösungsweg – zwei davon reichen.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3101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9"/>
          <p:cNvSpPr/>
          <p:nvPr/>
        </p:nvSpPr>
        <p:spPr>
          <a:xfrm>
            <a:off x="33101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2" name="Text 10"/>
          <p:cNvSpPr/>
          <p:nvPr/>
        </p:nvSpPr>
        <p:spPr>
          <a:xfrm>
            <a:off x="35478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Weiterlesen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478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wissen will, wie der Weg eines Aufrufs wirklich aussieht: „Praxis: github.com – die Spurensuche“ auf der Kursseite.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0533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5" name="Shape 13"/>
          <p:cNvSpPr/>
          <p:nvPr/>
        </p:nvSpPr>
        <p:spPr>
          <a:xfrm>
            <a:off x="60533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6" name="Text 14"/>
          <p:cNvSpPr/>
          <p:nvPr/>
        </p:nvSpPr>
        <p:spPr>
          <a:xfrm>
            <a:off x="62910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Mittwoch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2910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Routing, VLAN und Netzwerksicherheit kompakt – und zum Abschluss lösen wir die Leitfrage vom ersten Abend ein.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9" name="Text 17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Nächster Termin: Mittwoch, 2. September, 18:00 Uhr – das Finale des Netzwerkblocks.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Abschluss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20/20</a:t>
            </a:r>
            <a:endParaRPr lang="en-US" sz="10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5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015484"/>
            <a:ext cx="9144000" cy="128016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1828800"/>
            <a:ext cx="8010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Fragen?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278892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Aufgaben, Lösungswege und die ganze Theorie stehen zum Nachlesen auf der Kursseite.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66928" y="3401568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Mittwoch, 2. September · Routing, VLAN und Sicherheit – das Blockfinale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Adressierung und Subnetting</dc:title>
  <dc:subject>Abend 2 im Themenblock Planung, Konzeptionierung, Integration</dc:subject>
  <dc:creator>Jacob Menge</dc:creator>
  <cp:lastModifiedBy>Jacob Menge</cp:lastModifiedBy>
  <cp:revision>1</cp:revision>
  <dcterms:created xsi:type="dcterms:W3CDTF">2026-08-31T14:16:35Z</dcterms:created>
  <dcterms:modified xsi:type="dcterms:W3CDTF">2026-08-31T14:16:35Z</dcterms:modified>
</cp:coreProperties>
</file>