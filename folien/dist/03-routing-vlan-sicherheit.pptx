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jacobmenge/Desktop/kurs-unterlagen/folien/assets/icons/cloudheld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26680" y="365760"/>
            <a:ext cx="868680" cy="86868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4" name="Text 1"/>
          <p:cNvSpPr/>
          <p:nvPr/>
        </p:nvSpPr>
        <p:spPr>
          <a:xfrm>
            <a:off x="914400" y="1280160"/>
            <a:ext cx="7635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20" kern="0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THEMA 1 · ABEND 3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914400" y="1682496"/>
            <a:ext cx="76352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Routing, VLAN und Sicherheit</a:t>
            </a:r>
            <a:endParaRPr lang="en-US" sz="3300" dirty="0"/>
          </a:p>
        </p:txBody>
      </p:sp>
      <p:sp>
        <p:nvSpPr>
          <p:cNvPr id="6" name="Text 3"/>
          <p:cNvSpPr/>
          <p:nvPr/>
        </p:nvSpPr>
        <p:spPr>
          <a:xfrm>
            <a:off x="914400" y="2761488"/>
            <a:ext cx="7635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 Finale des Netzwerkblocks – am Ende beantwortet ihr die Frage vom ersten Abend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914400" y="3986784"/>
            <a:ext cx="1828800" cy="0"/>
          </a:xfrm>
          <a:prstGeom prst="line">
            <a:avLst/>
          </a:prstGeom>
          <a:noFill/>
          <a:ln w="12700">
            <a:solidFill>
              <a:srgbClr val="DFE3F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14400" y="4078224"/>
            <a:ext cx="7635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Mittwoch, 2. September 2026 · 18:00–21:00 Uhr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ABLAUF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uns heute Abend erwartet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38912" y="1755648"/>
            <a:ext cx="8266176" cy="237744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1755648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84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18:00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1572768" y="1755648"/>
            <a:ext cx="70043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Warmup: eine Kopfrechenaufgabe von Montag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66928" y="1993392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84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18:10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1572768" y="1993392"/>
            <a:ext cx="70043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Routing: Wie ein Paket seinen Weg findet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38912" y="2231136"/>
            <a:ext cx="8266176" cy="237744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11" name="Text 9"/>
          <p:cNvSpPr/>
          <p:nvPr/>
        </p:nvSpPr>
        <p:spPr>
          <a:xfrm>
            <a:off x="566928" y="2231136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84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18:25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572768" y="2231136"/>
            <a:ext cx="70043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Netze trennen: VLAN, DMZ und die Firewall dazwischen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66928" y="2468880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84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18:45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1572768" y="2468880"/>
            <a:ext cx="70043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Pause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38912" y="2706624"/>
            <a:ext cx="8266176" cy="237744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16" name="Text 14"/>
          <p:cNvSpPr/>
          <p:nvPr/>
        </p:nvSpPr>
        <p:spPr>
          <a:xfrm>
            <a:off x="566928" y="2706624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84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18:55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1572768" y="2706624"/>
            <a:ext cx="70043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Quickcheck DNS und DHCP, dann das Zonenmodell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66928" y="2944368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84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19:15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1572768" y="2944368"/>
            <a:ext cx="70043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Briefing für die Breakout-Übung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38912" y="3182112"/>
            <a:ext cx="8266176" cy="237744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21" name="Text 19"/>
          <p:cNvSpPr/>
          <p:nvPr/>
        </p:nvSpPr>
        <p:spPr>
          <a:xfrm>
            <a:off x="566928" y="3182112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84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19:25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1572768" y="3182112"/>
            <a:ext cx="70043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Breakout: Netzwerk-Notruf – fünf Fälle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66928" y="3419856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84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20:15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1572768" y="3419856"/>
            <a:ext cx="70043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Auswertung: eure Diagnosen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38912" y="3657600"/>
            <a:ext cx="8266176" cy="237744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26" name="Text 24"/>
          <p:cNvSpPr/>
          <p:nvPr/>
        </p:nvSpPr>
        <p:spPr>
          <a:xfrm>
            <a:off x="566928" y="3657600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84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20:35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1572768" y="3657600"/>
            <a:ext cx="70043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 Finale: github.com – ihr erzählt, ich klicke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66928" y="3895344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84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20:55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1572768" y="3895344"/>
            <a:ext cx="70043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Blockabschluss und Ausblick auf Montag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566928" y="4251960"/>
            <a:ext cx="32004" cy="256032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31" name="Text 29"/>
          <p:cNvSpPr/>
          <p:nvPr/>
        </p:nvSpPr>
        <p:spPr>
          <a:xfrm>
            <a:off x="749808" y="4206240"/>
            <a:ext cx="7827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 Montag heißt es Virtualisierung – heute machen wir das Netz fertig.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Einstieg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1/20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ANTWORT IN DEN CHAT – 40 SEKUNDEN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Warmup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41248" y="1828800"/>
            <a:ext cx="746150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 /27-Netz:</a:t>
            </a:r>
            <a:endParaRPr lang="en-US" sz="2600" dirty="0"/>
          </a:p>
          <a:p>
            <a:pPr algn="ctr" indent="0" marL="0">
              <a:buNone/>
            </a:pPr>
            <a:r>
              <a:rPr lang="en-US" sz="2600" b="1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Wie viele Geräte passen hinein?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66928" y="4160520"/>
            <a:ext cx="32004" cy="256032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7" name="Text 5"/>
          <p:cNvSpPr/>
          <p:nvPr/>
        </p:nvSpPr>
        <p:spPr>
          <a:xfrm>
            <a:off x="749808" y="4114800"/>
            <a:ext cx="7827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 Rezept von Montag: Hostbits → Blockgröße → minus zwei.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Einstieg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2/20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AUFLÖSUNG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Warmup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41248" y="1828800"/>
            <a:ext cx="746150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 /27-Netz:</a:t>
            </a:r>
            <a:endParaRPr lang="en-US" sz="2600" dirty="0"/>
          </a:p>
          <a:p>
            <a:pPr algn="ctr" indent="0" marL="0">
              <a:buNone/>
            </a:pPr>
            <a:r>
              <a:rPr lang="en-US" sz="2600" b="1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Wie viele Geräte passen hinein?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66928" y="3200400"/>
            <a:ext cx="8010144" cy="914400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7" name="Shape 5"/>
          <p:cNvSpPr/>
          <p:nvPr/>
        </p:nvSpPr>
        <p:spPr>
          <a:xfrm>
            <a:off x="566928" y="3200400"/>
            <a:ext cx="41148" cy="914400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8" name="Text 6"/>
          <p:cNvSpPr/>
          <p:nvPr/>
        </p:nvSpPr>
        <p:spPr>
          <a:xfrm>
            <a:off x="804672" y="3346704"/>
            <a:ext cx="7607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Geräte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04672" y="3648456"/>
            <a:ext cx="76078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11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Hostbits → 2⁵ = 32 Adressen, minus Netzadresse und Broadcast. Wer 32 gesagt hat: willkommen im Klub von Montag – jetzt sitzt es.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Einstieg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3/20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55080" y="0"/>
            <a:ext cx="2788920" cy="5143500"/>
          </a:xfrm>
          <a:prstGeom prst="rect">
            <a:avLst/>
          </a:prstGeom>
          <a:solidFill>
            <a:srgbClr val="EEF0FB"/>
          </a:solidFill>
          <a:ln/>
        </p:spPr>
      </p:sp>
      <p:sp>
        <p:nvSpPr>
          <p:cNvPr id="3" name="Shape 1"/>
          <p:cNvSpPr/>
          <p:nvPr/>
        </p:nvSpPr>
        <p:spPr>
          <a:xfrm>
            <a:off x="6355080" y="0"/>
            <a:ext cx="45720" cy="5143500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4" name="Text 2"/>
          <p:cNvSpPr/>
          <p:nvPr/>
        </p:nvSpPr>
        <p:spPr>
          <a:xfrm>
            <a:off x="6629400" y="1463040"/>
            <a:ext cx="21945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0" b="1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8400" dirty="0"/>
          </a:p>
        </p:txBody>
      </p:sp>
      <p:sp>
        <p:nvSpPr>
          <p:cNvPr id="5" name="Shape 3"/>
          <p:cNvSpPr/>
          <p:nvPr/>
        </p:nvSpPr>
        <p:spPr>
          <a:xfrm>
            <a:off x="566928" y="1883664"/>
            <a:ext cx="475488" cy="50292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2084832"/>
            <a:ext cx="5394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 Weg finden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66928" y="3017520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ein Router wirklich tut, wenn euer Paket ankommt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ROUTING-TABELLE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Wie ein Paket seinen Weg findet</a:t>
            </a:r>
            <a:endParaRPr lang="en-US" sz="2600" dirty="0"/>
          </a:p>
        </p:txBody>
      </p:sp>
      <p:pic>
        <p:nvPicPr>
          <p:cNvPr id="5" name="Image 0" descr="/Users/jacobmenge/Desktop/kurs-unterlagen/folien/assets/diagramme/routing-we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572768"/>
            <a:ext cx="8010144" cy="20574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66928" y="3767328"/>
            <a:ext cx="8010144" cy="603504"/>
          </a:xfrm>
          <a:prstGeom prst="rect">
            <a:avLst/>
          </a:prstGeom>
          <a:solidFill>
            <a:srgbClr val="EEF0FB"/>
          </a:solidFill>
          <a:ln/>
        </p:spPr>
      </p:sp>
      <p:sp>
        <p:nvSpPr>
          <p:cNvPr id="7" name="Shape 4"/>
          <p:cNvSpPr/>
          <p:nvPr/>
        </p:nvSpPr>
        <p:spPr>
          <a:xfrm>
            <a:off x="566928" y="3767328"/>
            <a:ext cx="41148" cy="603504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8" name="Text 5"/>
          <p:cNvSpPr/>
          <p:nvPr/>
        </p:nvSpPr>
        <p:spPr>
          <a:xfrm>
            <a:off x="804672" y="3913632"/>
            <a:ext cx="760780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11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 das passiert an jedem Hop neu: Kein Router kennt den ganzen Weg – jeder kennt nur seinen nächsten Schritt. Deshalb zeigt tracert eine Kette.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Routing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4/20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55080" y="0"/>
            <a:ext cx="2788920" cy="5143500"/>
          </a:xfrm>
          <a:prstGeom prst="rect">
            <a:avLst/>
          </a:prstGeom>
          <a:solidFill>
            <a:srgbClr val="E6F4F5"/>
          </a:solidFill>
          <a:ln/>
        </p:spPr>
      </p:sp>
      <p:sp>
        <p:nvSpPr>
          <p:cNvPr id="3" name="Shape 1"/>
          <p:cNvSpPr/>
          <p:nvPr/>
        </p:nvSpPr>
        <p:spPr>
          <a:xfrm>
            <a:off x="6355080" y="0"/>
            <a:ext cx="45720" cy="5143500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4" name="Text 2"/>
          <p:cNvSpPr/>
          <p:nvPr/>
        </p:nvSpPr>
        <p:spPr>
          <a:xfrm>
            <a:off x="6629400" y="1463040"/>
            <a:ext cx="21945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0" b="1" dirty="0">
                <a:solidFill>
                  <a:srgbClr val="0F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8400" dirty="0"/>
          </a:p>
        </p:txBody>
      </p:sp>
      <p:sp>
        <p:nvSpPr>
          <p:cNvPr id="5" name="Shape 3"/>
          <p:cNvSpPr/>
          <p:nvPr/>
        </p:nvSpPr>
        <p:spPr>
          <a:xfrm>
            <a:off x="566928" y="1883664"/>
            <a:ext cx="475488" cy="50292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2084832"/>
            <a:ext cx="5394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Getrennt, obwohl verkabelt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66928" y="3017520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VLAN, DMZ und die Firewall dazwischen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0F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LOGISCHE TRENNUNG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VLAN – ein Switch, mehrere Netze</a:t>
            </a:r>
            <a:endParaRPr lang="en-US" sz="2600" dirty="0"/>
          </a:p>
        </p:txBody>
      </p:sp>
      <p:pic>
        <p:nvPicPr>
          <p:cNvPr id="5" name="Image 0" descr="/Users/jacobmenge/Desktop/kurs-unterlagen/folien/assets/diagramme/vlan-swit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572768"/>
            <a:ext cx="8010144" cy="21945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66928" y="4160520"/>
            <a:ext cx="32004" cy="256032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7" name="Text 4"/>
          <p:cNvSpPr/>
          <p:nvPr/>
        </p:nvSpPr>
        <p:spPr>
          <a:xfrm>
            <a:off x="749808" y="4114800"/>
            <a:ext cx="7827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 ist die technische Antwort auf euren Subnetz-Plan von Montag: Gäste und Server trennt man nicht nur auf dem Papier.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Netze trennen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5/20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0F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 DARF WOHIN?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 Zonenmodell</a:t>
            </a:r>
            <a:endParaRPr lang="en-US" sz="2600" dirty="0"/>
          </a:p>
        </p:txBody>
      </p:sp>
      <p:pic>
        <p:nvPicPr>
          <p:cNvPr id="5" name="Image 0" descr="/Users/jacobmenge/Desktop/kurs-unterlagen/folien/assets/diagramme/zonen-mode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554480"/>
            <a:ext cx="8010144" cy="21488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66928" y="4105656"/>
            <a:ext cx="32004" cy="256032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7" name="Text 4"/>
          <p:cNvSpPr/>
          <p:nvPr/>
        </p:nvSpPr>
        <p:spPr>
          <a:xfrm>
            <a:off x="749808" y="4059936"/>
            <a:ext cx="7827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Merkt euch das Muster – es kommt beim Sicherheitsblock wieder und trägt jede Infrastrukturplanung.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Netze trennen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6/20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0F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ANTWORT IN DEN CHAT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Quickcheck DNS &amp; DHCP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66928" y="1444752"/>
            <a:ext cx="80101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Laut eurer Standortbestimmung sitzt beides – der Beweis in zwei Fragen.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66928" y="1975104"/>
            <a:ext cx="3895344" cy="1737360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7" name="Shape 5"/>
          <p:cNvSpPr/>
          <p:nvPr/>
        </p:nvSpPr>
        <p:spPr>
          <a:xfrm>
            <a:off x="566928" y="1975104"/>
            <a:ext cx="41148" cy="1737360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8" name="Text 6"/>
          <p:cNvSpPr/>
          <p:nvPr/>
        </p:nvSpPr>
        <p:spPr>
          <a:xfrm>
            <a:off x="804672" y="2066544"/>
            <a:ext cx="384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F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298448" y="2121408"/>
            <a:ext cx="2999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DHCP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298448" y="2441448"/>
            <a:ext cx="2999232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11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 Gerät kommt frisch ins Netz und hat noch keine Adresse. Welche vier Schritte laufen ab – in der richtigen Reihenfolge?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681728" y="1975104"/>
            <a:ext cx="3895344" cy="1737360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12" name="Shape 10"/>
          <p:cNvSpPr/>
          <p:nvPr/>
        </p:nvSpPr>
        <p:spPr>
          <a:xfrm>
            <a:off x="4681728" y="1975104"/>
            <a:ext cx="41148" cy="1737360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13" name="Text 11"/>
          <p:cNvSpPr/>
          <p:nvPr/>
        </p:nvSpPr>
        <p:spPr>
          <a:xfrm>
            <a:off x="4919472" y="2066544"/>
            <a:ext cx="384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F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413248" y="2121408"/>
            <a:ext cx="2999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DNS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413248" y="2441448"/>
            <a:ext cx="2999232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11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Ihr ändert einen DNS-Eintrag, aber die halbe Welt sieht noch den alten. Welcher Mechanismus steckt dahinter?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66928" y="4160520"/>
            <a:ext cx="32004" cy="256032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17" name="Text 15"/>
          <p:cNvSpPr/>
          <p:nvPr/>
        </p:nvSpPr>
        <p:spPr>
          <a:xfrm>
            <a:off x="749808" y="4114800"/>
            <a:ext cx="7827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Kein Nachschlagen – erst raten, dann klicke ich.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Quickcheck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7/20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0F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AUFLÖSUNG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Quickcheck DNS &amp; DHCP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66928" y="1737360"/>
            <a:ext cx="3895344" cy="2011680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6" name="Shape 4"/>
          <p:cNvSpPr/>
          <p:nvPr/>
        </p:nvSpPr>
        <p:spPr>
          <a:xfrm>
            <a:off x="566928" y="1737360"/>
            <a:ext cx="41148" cy="2011680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" y="1828800"/>
            <a:ext cx="384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F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298448" y="1883664"/>
            <a:ext cx="2999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DORA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298448" y="2203704"/>
            <a:ext cx="2999232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11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Discover – Offer – Request – Acknowledge. Das Gerät ruft ins Netz, der Server bietet an, das Gerät nimmt an, der Server bestätigt und verleast die Adresse.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681728" y="1737360"/>
            <a:ext cx="3895344" cy="2011680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11" name="Shape 9"/>
          <p:cNvSpPr/>
          <p:nvPr/>
        </p:nvSpPr>
        <p:spPr>
          <a:xfrm>
            <a:off x="4681728" y="1737360"/>
            <a:ext cx="41148" cy="2011680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12" name="Text 10"/>
          <p:cNvSpPr/>
          <p:nvPr/>
        </p:nvSpPr>
        <p:spPr>
          <a:xfrm>
            <a:off x="4919472" y="1828800"/>
            <a:ext cx="384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F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5413248" y="1883664"/>
            <a:ext cx="2999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TTL und Caching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13248" y="2203704"/>
            <a:ext cx="2999232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11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Jeder DNS-Eintrag trägt eine Lebensdauer. Resolver weltweit halten die alte Antwort, bis ihre TTL abläuft – deshalb dauert eine Umstellung Stunden, nicht Sekunden.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66928" y="4160520"/>
            <a:ext cx="32004" cy="256032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16" name="Text 14"/>
          <p:cNvSpPr/>
          <p:nvPr/>
        </p:nvSpPr>
        <p:spPr>
          <a:xfrm>
            <a:off x="749808" y="4114800"/>
            <a:ext cx="7827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Beides kommt im Betrieb ständig vor – und beides steht ausführlich auf der Kursseite.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Quickcheck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8/20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55080" y="0"/>
            <a:ext cx="2788920" cy="5143500"/>
          </a:xfrm>
          <a:prstGeom prst="rect">
            <a:avLst/>
          </a:prstGeom>
          <a:solidFill>
            <a:srgbClr val="FBF2E3"/>
          </a:solidFill>
          <a:ln/>
        </p:spPr>
      </p:sp>
      <p:sp>
        <p:nvSpPr>
          <p:cNvPr id="3" name="Shape 1"/>
          <p:cNvSpPr/>
          <p:nvPr/>
        </p:nvSpPr>
        <p:spPr>
          <a:xfrm>
            <a:off x="6355080" y="0"/>
            <a:ext cx="45720" cy="5143500"/>
          </a:xfrm>
          <a:prstGeom prst="rect">
            <a:avLst/>
          </a:prstGeom>
          <a:solidFill>
            <a:srgbClr val="9A6310"/>
          </a:solidFill>
          <a:ln/>
        </p:spPr>
      </p:sp>
      <p:sp>
        <p:nvSpPr>
          <p:cNvPr id="4" name="Text 2"/>
          <p:cNvSpPr/>
          <p:nvPr/>
        </p:nvSpPr>
        <p:spPr>
          <a:xfrm>
            <a:off x="6629400" y="1463040"/>
            <a:ext cx="21945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0" b="1" dirty="0">
                <a:solidFill>
                  <a:srgbClr val="9A63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8400" dirty="0"/>
          </a:p>
        </p:txBody>
      </p:sp>
      <p:sp>
        <p:nvSpPr>
          <p:cNvPr id="5" name="Shape 3"/>
          <p:cNvSpPr/>
          <p:nvPr/>
        </p:nvSpPr>
        <p:spPr>
          <a:xfrm>
            <a:off x="566928" y="1883664"/>
            <a:ext cx="475488" cy="50292"/>
          </a:xfrm>
          <a:prstGeom prst="rect">
            <a:avLst/>
          </a:prstGeom>
          <a:solidFill>
            <a:srgbClr val="9A6310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2084832"/>
            <a:ext cx="5394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Netzwerk-Notruf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66928" y="3017520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 Minuten in Gruppen – fünf Anrufe, fünf Diagnosen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9A6310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9A63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BREAKOUT · 50 MINUTEN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 Auftrag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66928" y="1444752"/>
            <a:ext cx="80101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Fünf Störungsmeldungen, zu jeder ein paar echte Befehlsausgaben. Ihr benennt Schicht, Ursache und Fix – die Checkliste führt euch.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38912" y="1975104"/>
            <a:ext cx="8266176" cy="310896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7" name="Text 5"/>
          <p:cNvSpPr/>
          <p:nvPr/>
        </p:nvSpPr>
        <p:spPr>
          <a:xfrm>
            <a:off x="566928" y="1975104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9A63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Fall 1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1435608" y="1975104"/>
            <a:ext cx="71414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„Ich komme nirgendwo hin“ – der Klassiker zum Warmwerden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66928" y="2286000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9A63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Fall 2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1435608" y="2286000"/>
            <a:ext cx="71414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„Webseiten gehen nicht, aber …“ – genau hinsehen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38912" y="2596896"/>
            <a:ext cx="8266176" cy="310896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12" name="Text 10"/>
          <p:cNvSpPr/>
          <p:nvPr/>
        </p:nvSpPr>
        <p:spPr>
          <a:xfrm>
            <a:off x="566928" y="2596896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9A63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Fall 3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1435608" y="2596896"/>
            <a:ext cx="71414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„Nur das Internet fehlt“ – Montag hilft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66928" y="2907792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9A63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Fall 4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1435608" y="2907792"/>
            <a:ext cx="71414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„Komische Adresse“ – Montag hilft sehr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38912" y="3218688"/>
            <a:ext cx="8266176" cy="310896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17" name="Text 15"/>
          <p:cNvSpPr/>
          <p:nvPr/>
        </p:nvSpPr>
        <p:spPr>
          <a:xfrm>
            <a:off x="566928" y="3218688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9A63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Fall 5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1435608" y="3218688"/>
            <a:ext cx="71414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„Server pingt, aber die App nicht“ – der Mittwochsfall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66928" y="3621024"/>
            <a:ext cx="8010144" cy="841248"/>
          </a:xfrm>
          <a:prstGeom prst="rect">
            <a:avLst/>
          </a:prstGeom>
          <a:solidFill>
            <a:srgbClr val="EEF0FB"/>
          </a:solidFill>
          <a:ln/>
        </p:spPr>
      </p:sp>
      <p:sp>
        <p:nvSpPr>
          <p:cNvPr id="20" name="Shape 18"/>
          <p:cNvSpPr/>
          <p:nvPr/>
        </p:nvSpPr>
        <p:spPr>
          <a:xfrm>
            <a:off x="566928" y="3621024"/>
            <a:ext cx="41148" cy="841248"/>
          </a:xfrm>
          <a:prstGeom prst="rect">
            <a:avLst/>
          </a:prstGeom>
          <a:solidFill>
            <a:srgbClr val="9A6310"/>
          </a:solidFill>
          <a:ln/>
        </p:spPr>
      </p:sp>
      <p:sp>
        <p:nvSpPr>
          <p:cNvPr id="21" name="Text 19"/>
          <p:cNvSpPr/>
          <p:nvPr/>
        </p:nvSpPr>
        <p:spPr>
          <a:xfrm>
            <a:off x="804672" y="3767328"/>
            <a:ext cx="7607808" cy="2420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Jetzt öffnen – beides braucht ihr gleich im Raum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04672" y="4055110"/>
            <a:ext cx="7607808" cy="288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spcAft>
                <a:spcPts val="500"/>
              </a:spcAft>
              <a:buNone/>
            </a:pPr>
            <a:r>
              <a:rPr lang="en-US" sz="10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Fälle und Checkliste:  jacobmenge.github.io/kurs-unterlagen/netzwerke/praxis-netzwerk-notruf/</a:t>
            </a:r>
            <a:endParaRPr lang="en-US" sz="1050" dirty="0"/>
          </a:p>
          <a:p>
            <a:pPr indent="0" marL="0">
              <a:lnSpc>
                <a:spcPct val="92000"/>
              </a:lnSpc>
              <a:spcAft>
                <a:spcPts val="500"/>
              </a:spcAft>
              <a:buNone/>
            </a:pPr>
            <a:r>
              <a:rPr lang="en-US" sz="10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Diagnosen eintragen:  &lt;Link zum Ergebnis-Dokument hier eintragen&gt;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Breakout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9/20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9A6310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9A63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SPIELREGELN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arbeitet ihr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66928" y="1700784"/>
            <a:ext cx="801014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1250" b="1" dirty="0">
                <a:solidFill>
                  <a:srgbClr val="9A63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 </a:t>
            </a:r>
            <a:pPr indent="0" marL="0">
              <a:lnSpc>
                <a:spcPct val="9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Gleiche Gruppen, gleiche Sprecher. Eine Person teilt den Bildschirm.</a:t>
            </a:r>
            <a:endParaRPr lang="en-US" sz="1250" dirty="0"/>
          </a:p>
          <a:p>
            <a:pPr indent="0" marL="0">
              <a:lnSpc>
                <a:spcPct val="92000"/>
              </a:lnSpc>
              <a:buNone/>
            </a:pPr>
            <a:r>
              <a:rPr lang="en-US" sz="1250" b="1" dirty="0">
                <a:solidFill>
                  <a:srgbClr val="9A63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 </a:t>
            </a:r>
            <a:pPr indent="0" marL="0">
              <a:lnSpc>
                <a:spcPct val="9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Arbeitet die Checkliste von unten nach oben ab – sie ist euer Werkzeug, nicht eure Fessel.</a:t>
            </a:r>
            <a:endParaRPr lang="en-US" sz="1250" dirty="0"/>
          </a:p>
          <a:p>
            <a:pPr indent="0" marL="0">
              <a:lnSpc>
                <a:spcPct val="92000"/>
              </a:lnSpc>
              <a:buNone/>
            </a:pPr>
            <a:r>
              <a:rPr lang="en-US" sz="1250" b="1" dirty="0">
                <a:solidFill>
                  <a:srgbClr val="9A63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 </a:t>
            </a:r>
            <a:pPr indent="0" marL="0">
              <a:lnSpc>
                <a:spcPct val="9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 Fall festhalten: Schicht, Beweis aus der Ausgabe, Ursache, Fix – ein Satz je Punkt reicht.</a:t>
            </a:r>
            <a:endParaRPr lang="en-US" sz="1250" dirty="0"/>
          </a:p>
          <a:p>
            <a:pPr indent="0" marL="0">
              <a:lnSpc>
                <a:spcPct val="92000"/>
              </a:lnSpc>
              <a:buNone/>
            </a:pPr>
            <a:r>
              <a:rPr lang="en-US" sz="1250" b="1" dirty="0">
                <a:solidFill>
                  <a:srgbClr val="9A63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 </a:t>
            </a:r>
            <a:pPr indent="0" marL="0">
              <a:lnSpc>
                <a:spcPct val="9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Hilfekarten erst nach ehrlichem Versuch. Die Lösungen bleiben zu, bis wir auswerten.</a:t>
            </a:r>
            <a:endParaRPr lang="en-US" sz="1250" dirty="0"/>
          </a:p>
          <a:p>
            <a:pPr indent="0" marL="0">
              <a:lnSpc>
                <a:spcPct val="92000"/>
              </a:lnSpc>
              <a:buNone/>
            </a:pPr>
            <a:r>
              <a:rPr lang="en-US" sz="1250" b="1" dirty="0">
                <a:solidFill>
                  <a:srgbClr val="9A63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 </a:t>
            </a:r>
            <a:pPr indent="0" marL="0">
              <a:lnSpc>
                <a:spcPct val="9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Wenn es klemmt: in eurem Raum auf „Um Hilfe bitten“ klicken.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66928" y="3602736"/>
            <a:ext cx="8010144" cy="822960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7" name="Shape 5"/>
          <p:cNvSpPr/>
          <p:nvPr/>
        </p:nvSpPr>
        <p:spPr>
          <a:xfrm>
            <a:off x="566928" y="3602736"/>
            <a:ext cx="41148" cy="822960"/>
          </a:xfrm>
          <a:prstGeom prst="rect">
            <a:avLst/>
          </a:prstGeom>
          <a:solidFill>
            <a:srgbClr val="9A6310"/>
          </a:solidFill>
          <a:ln/>
        </p:spPr>
      </p:sp>
      <p:sp>
        <p:nvSpPr>
          <p:cNvPr id="8" name="Text 6"/>
          <p:cNvSpPr/>
          <p:nvPr/>
        </p:nvSpPr>
        <p:spPr>
          <a:xfrm>
            <a:off x="804672" y="3749040"/>
            <a:ext cx="7607808" cy="2420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 20:15 sind alle wieder hier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04672" y="4036822"/>
            <a:ext cx="7607808" cy="2700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11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Jede Gruppe übernimmt in der Auswertung einen Fall – bearbeitet trotzdem alle fünf.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Breakout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10/20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AUSWERTUNG · 20 MINUTEN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Eure Diagnosen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38912" y="1792224"/>
            <a:ext cx="8266176" cy="402336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1792224"/>
            <a:ext cx="411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4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78408" y="1792224"/>
            <a:ext cx="7598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Jede Gruppe stellt ihren Fall vor: Schicht, Beweis, Ursache, Fix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66928" y="2194560"/>
            <a:ext cx="411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4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78408" y="2194560"/>
            <a:ext cx="7598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 Plenum prüft: Hätte ein anderer Befehl schneller ans Ziel geführt?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8912" y="2596896"/>
            <a:ext cx="8266176" cy="402336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11" name="Text 9"/>
          <p:cNvSpPr/>
          <p:nvPr/>
        </p:nvSpPr>
        <p:spPr>
          <a:xfrm>
            <a:off x="566928" y="2596896"/>
            <a:ext cx="411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4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78408" y="2596896"/>
            <a:ext cx="7598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 fünfte Fall gemeinsam – wer hat ihn geknackt?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66928" y="2999232"/>
            <a:ext cx="411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4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78408" y="2999232"/>
            <a:ext cx="7598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Dann die Auflösungstabelle – und die Fälle, wo Montag geholfen hat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66928" y="3749040"/>
            <a:ext cx="8010144" cy="603504"/>
          </a:xfrm>
          <a:prstGeom prst="rect">
            <a:avLst/>
          </a:prstGeom>
          <a:solidFill>
            <a:srgbClr val="EEF0FB"/>
          </a:solidFill>
          <a:ln/>
        </p:spPr>
      </p:sp>
      <p:sp>
        <p:nvSpPr>
          <p:cNvPr id="16" name="Shape 14"/>
          <p:cNvSpPr/>
          <p:nvPr/>
        </p:nvSpPr>
        <p:spPr>
          <a:xfrm>
            <a:off x="566928" y="3749040"/>
            <a:ext cx="41148" cy="603504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17" name="Text 15"/>
          <p:cNvSpPr/>
          <p:nvPr/>
        </p:nvSpPr>
        <p:spPr>
          <a:xfrm>
            <a:off x="804672" y="3895344"/>
            <a:ext cx="760780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11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Diagnose zählt mehr als der Fix: Wer die Schicht sauber belegt hat, bekommt den Rest geschenkt.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Auswertung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11/20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AUSWERTUNG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Auflösung der fünf Fälle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38912" y="1737360"/>
            <a:ext cx="8266176" cy="384048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1737360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84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Fall 1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1435608" y="1737360"/>
            <a:ext cx="71414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APIPA, kein DHCP erreichbar – Symptom auf 3, Ursache dahinter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66928" y="2121408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84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Fall 2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1435608" y="2121408"/>
            <a:ext cx="71414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DNS antwortet nicht – IP-Ping läuft, Namen sterben (Schicht 7)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38912" y="2505456"/>
            <a:ext cx="8266176" cy="384048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11" name="Text 9"/>
          <p:cNvSpPr/>
          <p:nvPr/>
        </p:nvSpPr>
        <p:spPr>
          <a:xfrm>
            <a:off x="566928" y="2505456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84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Fall 3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1435608" y="2505456"/>
            <a:ext cx="71414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Falsches Default-Gateway – lokal alles gut, draußen nichts (Schicht 3)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66928" y="2889504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84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Fall 4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1435608" y="2889504"/>
            <a:ext cx="71414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Falsche Subnetzmaske /24 statt /25 – der Montags-Fall in freier Wildbahn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38912" y="3273552"/>
            <a:ext cx="8266176" cy="384048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16" name="Text 14"/>
          <p:cNvSpPr/>
          <p:nvPr/>
        </p:nvSpPr>
        <p:spPr>
          <a:xfrm>
            <a:off x="566928" y="3273552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84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Fall 5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1435608" y="3273552"/>
            <a:ext cx="71414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Firewall blockt den Port – ping ja, Dienst nein (Schicht 4)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66928" y="4160520"/>
            <a:ext cx="32004" cy="256032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19" name="Text 17"/>
          <p:cNvSpPr/>
          <p:nvPr/>
        </p:nvSpPr>
        <p:spPr>
          <a:xfrm>
            <a:off x="749808" y="4114800"/>
            <a:ext cx="7827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Fünf Fälle, fünf Schichten – und jedes Mal hat die Checkliste den Weg gezeigt, nicht das Raten.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Auswertung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12/20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55080" y="0"/>
            <a:ext cx="2788920" cy="5143500"/>
          </a:xfrm>
          <a:prstGeom prst="rect">
            <a:avLst/>
          </a:prstGeom>
          <a:solidFill>
            <a:srgbClr val="EEF0FB"/>
          </a:solidFill>
          <a:ln/>
        </p:spPr>
      </p:sp>
      <p:sp>
        <p:nvSpPr>
          <p:cNvPr id="3" name="Shape 1"/>
          <p:cNvSpPr/>
          <p:nvPr/>
        </p:nvSpPr>
        <p:spPr>
          <a:xfrm>
            <a:off x="6355080" y="0"/>
            <a:ext cx="45720" cy="5143500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4" name="Text 2"/>
          <p:cNvSpPr/>
          <p:nvPr/>
        </p:nvSpPr>
        <p:spPr>
          <a:xfrm>
            <a:off x="6629400" y="1463040"/>
            <a:ext cx="21945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0" b="1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8400" dirty="0"/>
          </a:p>
        </p:txBody>
      </p:sp>
      <p:sp>
        <p:nvSpPr>
          <p:cNvPr id="5" name="Shape 3"/>
          <p:cNvSpPr/>
          <p:nvPr/>
        </p:nvSpPr>
        <p:spPr>
          <a:xfrm>
            <a:off x="566928" y="1883664"/>
            <a:ext cx="475488" cy="50292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2084832"/>
            <a:ext cx="5394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Leitfrage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66928" y="3017520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passiert, wenn ich github.com eintippe? Ihr erzählt – ich klicke.</a:t>
            </a:r>
            <a:endParaRPr lang="en-US" sz="13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EURE ANTWORT, STATION FÜR STATION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Leitfrage vom ersten Abend</a:t>
            </a:r>
            <a:endParaRPr lang="en-US" sz="2600" dirty="0"/>
          </a:p>
        </p:txBody>
      </p:sp>
      <p:pic>
        <p:nvPicPr>
          <p:cNvPr id="5" name="Image 0" descr="/Users/jacobmenge/Desktop/kurs-unterlagen/folien/assets/diagramme/weg-github-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600200"/>
            <a:ext cx="8010144" cy="22860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 Finale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13/20</a:t>
            </a:r>
            <a:endParaRPr lang="en-US" sz="10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 1 VON 5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Leitfrage vom ersten Abend</a:t>
            </a:r>
            <a:endParaRPr lang="en-US" sz="2600" dirty="0"/>
          </a:p>
        </p:txBody>
      </p:sp>
      <p:pic>
        <p:nvPicPr>
          <p:cNvPr id="5" name="Image 0" descr="/Users/jacobmenge/Desktop/kurs-unterlagen/folien/assets/diagramme/weg-github-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600200"/>
            <a:ext cx="8010144" cy="22860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 Finale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14/20</a:t>
            </a:r>
            <a:endParaRPr lang="en-US" sz="10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 2 VON 5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Leitfrage vom ersten Abend</a:t>
            </a:r>
            <a:endParaRPr lang="en-US" sz="2600" dirty="0"/>
          </a:p>
        </p:txBody>
      </p:sp>
      <p:pic>
        <p:nvPicPr>
          <p:cNvPr id="5" name="Image 0" descr="/Users/jacobmenge/Desktop/kurs-unterlagen/folien/assets/diagramme/weg-github-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600200"/>
            <a:ext cx="8010144" cy="22860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 Finale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15/20</a:t>
            </a:r>
            <a:endParaRPr lang="en-US" sz="10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 3 VON 5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Leitfrage vom ersten Abend</a:t>
            </a:r>
            <a:endParaRPr lang="en-US" sz="2600" dirty="0"/>
          </a:p>
        </p:txBody>
      </p:sp>
      <p:pic>
        <p:nvPicPr>
          <p:cNvPr id="5" name="Image 0" descr="/Users/jacobmenge/Desktop/kurs-unterlagen/folien/assets/diagramme/weg-github-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600200"/>
            <a:ext cx="8010144" cy="22860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 Finale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16/20</a:t>
            </a:r>
            <a:endParaRPr lang="en-US" sz="10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 4 VON 5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Leitfrage vom ersten Abend</a:t>
            </a:r>
            <a:endParaRPr lang="en-US" sz="2600" dirty="0"/>
          </a:p>
        </p:txBody>
      </p:sp>
      <p:pic>
        <p:nvPicPr>
          <p:cNvPr id="5" name="Image 0" descr="/Users/jacobmenge/Desktop/kurs-unterlagen/folien/assets/diagramme/weg-github-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600200"/>
            <a:ext cx="8010144" cy="22860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 Finale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17/20</a:t>
            </a:r>
            <a:endParaRPr lang="en-US" sz="10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 5 VON 5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Leitfrage vom ersten Abend</a:t>
            </a:r>
            <a:endParaRPr lang="en-US" sz="2600" dirty="0"/>
          </a:p>
        </p:txBody>
      </p:sp>
      <p:pic>
        <p:nvPicPr>
          <p:cNvPr id="5" name="Image 0" descr="/Users/jacobmenge/Desktop/kurs-unterlagen/folien/assets/diagramme/weg-github-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600200"/>
            <a:ext cx="8010144" cy="22860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66928" y="4178808"/>
            <a:ext cx="32004" cy="256032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7" name="Text 4"/>
          <p:cNvSpPr/>
          <p:nvPr/>
        </p:nvSpPr>
        <p:spPr>
          <a:xfrm>
            <a:off x="749808" y="4133088"/>
            <a:ext cx="7827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Vom ersten Abend bis heute: Modell, Adressen, Weg, Trennung – alles steckt in dieser einen Antwort.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 Finale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18/20</a:t>
            </a:r>
            <a:endParaRPr lang="en-US" sz="10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DREI ABENDE, EIN WERKZEUGKASTEN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der Netzwerkblock euch gegeben hat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66928" y="1783080"/>
            <a:ext cx="2523744" cy="1965960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6" name="Shape 4"/>
          <p:cNvSpPr/>
          <p:nvPr/>
        </p:nvSpPr>
        <p:spPr>
          <a:xfrm>
            <a:off x="566928" y="1783080"/>
            <a:ext cx="41148" cy="1965960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" y="1929384"/>
            <a:ext cx="2121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 Raster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04672" y="2231136"/>
            <a:ext cx="2121408" cy="1399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11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Schichten als Suchraster: von unten nach oben, jeder Befehl beweist seine Schicht. Heute habt ihr fünf echte Fälle damit gelöst.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10128" y="1783080"/>
            <a:ext cx="2523744" cy="1965960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10" name="Shape 8"/>
          <p:cNvSpPr/>
          <p:nvPr/>
        </p:nvSpPr>
        <p:spPr>
          <a:xfrm>
            <a:off x="3310128" y="1783080"/>
            <a:ext cx="41148" cy="1965960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11" name="Text 9"/>
          <p:cNvSpPr/>
          <p:nvPr/>
        </p:nvSpPr>
        <p:spPr>
          <a:xfrm>
            <a:off x="3547872" y="1929384"/>
            <a:ext cx="2121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 Handwerk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547872" y="2231136"/>
            <a:ext cx="2121408" cy="1399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11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Subnetze rechnen und Netze planen – Maske, Blockgröße, minus zwei. Das tragt ihr in jede Infrastruktur, die noch kommt.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053328" y="1783080"/>
            <a:ext cx="2523744" cy="1965960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14" name="Shape 12"/>
          <p:cNvSpPr/>
          <p:nvPr/>
        </p:nvSpPr>
        <p:spPr>
          <a:xfrm>
            <a:off x="6053328" y="1783080"/>
            <a:ext cx="41148" cy="1965960"/>
          </a:xfrm>
          <a:prstGeom prst="rect">
            <a:avLst/>
          </a:prstGeom>
          <a:solidFill>
            <a:srgbClr val="9A6310"/>
          </a:solidFill>
          <a:ln/>
        </p:spPr>
      </p:sp>
      <p:sp>
        <p:nvSpPr>
          <p:cNvPr id="15" name="Text 13"/>
          <p:cNvSpPr/>
          <p:nvPr/>
        </p:nvSpPr>
        <p:spPr>
          <a:xfrm>
            <a:off x="6291072" y="1929384"/>
            <a:ext cx="2121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 Muster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291072" y="2231136"/>
            <a:ext cx="2121408" cy="1399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11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Netze trennt man mit Absicht: VLAN, DMZ, Firewall-Regeln. Das Zonenmodell seht ihr im Sicherheitsblock wieder.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66928" y="3877056"/>
            <a:ext cx="8010144" cy="512064"/>
          </a:xfrm>
          <a:prstGeom prst="rect">
            <a:avLst/>
          </a:prstGeom>
          <a:solidFill>
            <a:srgbClr val="EEF0FB"/>
          </a:solidFill>
          <a:ln/>
        </p:spPr>
      </p:sp>
      <p:sp>
        <p:nvSpPr>
          <p:cNvPr id="18" name="Shape 16"/>
          <p:cNvSpPr/>
          <p:nvPr/>
        </p:nvSpPr>
        <p:spPr>
          <a:xfrm>
            <a:off x="566928" y="3877056"/>
            <a:ext cx="41148" cy="512064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19" name="Text 17"/>
          <p:cNvSpPr/>
          <p:nvPr/>
        </p:nvSpPr>
        <p:spPr>
          <a:xfrm>
            <a:off x="804672" y="4023360"/>
            <a:ext cx="760780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11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Alles bleibt online zum Nachschlagen – inklusive der Seiten, die wir nicht gemeinsam behandelt haben.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Abschluss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19/20</a:t>
            </a:r>
            <a:endParaRPr lang="en-US" sz="10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AUSBLICK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Bis Montag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66928" y="1444752"/>
            <a:ext cx="80101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 Montag bauen wir – der Netzwerkblock ist geschafft.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66928" y="1975104"/>
            <a:ext cx="2523744" cy="1920240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7" name="Shape 5"/>
          <p:cNvSpPr/>
          <p:nvPr/>
        </p:nvSpPr>
        <p:spPr>
          <a:xfrm>
            <a:off x="566928" y="1975104"/>
            <a:ext cx="41148" cy="1920240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8" name="Text 6"/>
          <p:cNvSpPr/>
          <p:nvPr/>
        </p:nvSpPr>
        <p:spPr>
          <a:xfrm>
            <a:off x="804672" y="2121408"/>
            <a:ext cx="2121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Virtualisierung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04672" y="2423160"/>
            <a:ext cx="2121408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11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Hypervisor, virtuelle Maschinen, virtuelle Netze – und ihr startet eure erste eigene VM. Das Werkzeug dafür richten wir gemeinsam ein.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310128" y="1975104"/>
            <a:ext cx="2523744" cy="1920240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11" name="Shape 9"/>
          <p:cNvSpPr/>
          <p:nvPr/>
        </p:nvSpPr>
        <p:spPr>
          <a:xfrm>
            <a:off x="3310128" y="1975104"/>
            <a:ext cx="41148" cy="1920240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12" name="Text 10"/>
          <p:cNvSpPr/>
          <p:nvPr/>
        </p:nvSpPr>
        <p:spPr>
          <a:xfrm>
            <a:off x="3547872" y="2121408"/>
            <a:ext cx="2121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Nichts vorbereiten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547872" y="2423160"/>
            <a:ext cx="2121408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11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Ihr braucht nur euren Rechner. Wer mag, liest vorab die Seite „Virtualisierung“ auf der Kursseite an – Pflicht ist das nicht.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053328" y="1975104"/>
            <a:ext cx="2523744" cy="1920240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15" name="Shape 13"/>
          <p:cNvSpPr/>
          <p:nvPr/>
        </p:nvSpPr>
        <p:spPr>
          <a:xfrm>
            <a:off x="6053328" y="1975104"/>
            <a:ext cx="41148" cy="1920240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16" name="Text 14"/>
          <p:cNvSpPr/>
          <p:nvPr/>
        </p:nvSpPr>
        <p:spPr>
          <a:xfrm>
            <a:off x="6291072" y="2121408"/>
            <a:ext cx="2121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Offene Rechnungen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291072" y="2423160"/>
            <a:ext cx="2121408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11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 bei den Fällen 3 und 4 geschwommen ist: Die Montags-Seiten zu Adressierung und Routing schließen die Lücke.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66928" y="4160520"/>
            <a:ext cx="32004" cy="256032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19" name="Text 17"/>
          <p:cNvSpPr/>
          <p:nvPr/>
        </p:nvSpPr>
        <p:spPr>
          <a:xfrm>
            <a:off x="749808" y="4114800"/>
            <a:ext cx="7827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Nächster Termin: Montag, 7. September, 18:00 Uhr – Virtualisierung.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Abschluss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20/20</a:t>
            </a:r>
            <a:endParaRPr lang="en-US" sz="10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5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15484"/>
            <a:ext cx="9144000" cy="128016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1828800"/>
            <a:ext cx="8010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Netzwerkblock: geschafft.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66928" y="2788920"/>
            <a:ext cx="8010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Drei Abende, zwei Übungen, eine beantwortete Leitfrage – alles zum Nachlesen auf der Kursseite.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66928" y="3401568"/>
            <a:ext cx="8010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Montag, 7. September · Virtualisierung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Routing, VLAN und Sicherheit</dc:title>
  <dc:subject>Abend 3 im Themenblock Planung, Konzeptionierung, Integration</dc:subject>
  <dc:creator>Jacob Menge</dc:creator>
  <cp:lastModifiedBy>Jacob Menge</cp:lastModifiedBy>
  <cp:revision>1</cp:revision>
  <dcterms:created xsi:type="dcterms:W3CDTF">2026-08-31T13:41:12Z</dcterms:created>
  <dcterms:modified xsi:type="dcterms:W3CDTF">2026-08-31T13:41:12Z</dcterms:modified>
</cp:coreProperties>
</file>