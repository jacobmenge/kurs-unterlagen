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Netzwerke – das Fundament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Auffrischung auf gemeinsamen Stand – und der Blick auf das, was dort meist zu kurz kam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26. August 2026 · 18:00–21:00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bauen wir gemeinsam das Bild auf, dann messt ihr es an eurem eigenen Rechner nach.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956816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568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72768" y="195681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Ankommen, Technik, Einstieg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72768" y="219456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Netzwerke – und was bisher meist zu kurz kam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432304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323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72768" y="243230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Auffrischung im Schnellgang: Topologien, Dateneinheiten, Kennzahlen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6700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72768" y="267004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" y="2907792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9077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72768" y="290779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und TCP/IP, Kapselung, der Werkzeugkasten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1455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72768" y="314553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" y="3383280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383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19:30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572768" y="338328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der Schichten-Check am eigenen Rechner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36210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20:25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72768" y="362102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im Plenum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" y="3858768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858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572768" y="385876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 und offene Fragen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233672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18795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 jederzeit dazwischen – lieber sofort als drei Folien später.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LEITFRAGE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Frage, an der wir uns festhalten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600200"/>
            <a:ext cx="74615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passiert technisch,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ich github.com in den Browser tippe?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3154680"/>
            <a:ext cx="8010144" cy="9144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154680"/>
            <a:ext cx="41148" cy="9144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300984"/>
            <a:ext cx="7607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Ende dieses Blocks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3602736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erklärt ihr das am Stück, ohne ins Stocken zu geraten – von der Namensauflösung über die Verbindung bis zur fertigen Seite.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legen wir das Raster, in das später jede Antwort einsortiert wird.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wir gerade stehen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Netzwerke sind der erste Baustein von Thema 1 – und das Vokabular für alles, was danach kommt.</a:t>
            </a:r>
            <a:endParaRPr lang="en-US" sz="1300" dirty="0"/>
          </a:p>
        </p:txBody>
      </p:sp>
      <p:pic>
        <p:nvPicPr>
          <p:cNvPr id="6" name="Image 0" descr="/Users/jacobmenge/Desktop/kurs-26.2b-orga/folienwerkstatt/assets/diagramme/weg-them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0240"/>
            <a:ext cx="8010144" cy="1737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959352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391363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Container-Netze, Cloud-Subnetze, Sicherheitszonen: dieselben Begriffe, anderer Ort.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Netzwerke zuerst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Querschnittsthema, auf dem der ganze Kurs aufbaut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wir mit Bekanntem anfangen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seid ausgebildete Fachinformatiker. Das meiste von heute Abend habt ihr schon einmal gehört – und das ist Absicht.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Gemeinsame Sprache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2121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kommt aus verschiedenen Betrieben und Jahrgängen. Ab Montag rechnen wir – da müssen die Begriffe bei allen gleich sitzen.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Standortbestimmung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41448"/>
            <a:ext cx="2121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der Ausbildung liegt vieles ein paar Jahre zurück. Heute merkt jeder selbst, wo es hakt – ohne dass es jemand mitbekommt.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neue Teil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41448"/>
            <a:ext cx="2121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Industrie- und Anlagenvernetzung kam in den meisten Ausbildungen höchstens am Rand vor. Dort liegt der Kern dieser Fortbildung.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wird es schnell gehen. Sagt Bescheid, wenn ich zu schnell bin – oder zu langsam.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Netzwerke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PRAXISBEZUG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Situationen aus dem Berufsalltag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allen drei Fällen entscheidet Netzwerkwissen darüber, ob das Projekt gelingt.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8" name="Image 0" descr="/Users/jacobmenge/Desktop/kurs-26.2b-orga/folienwerkstatt/assets/diagramme/icon-standort-3843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2032" y="210312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121408"/>
            <a:ext cx="1591056" cy="45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Filiale anbinden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2623820"/>
            <a:ext cx="2121408" cy="1152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Subnetz? Wie kommt sie sicher an die Zentrale? Wer vergibt die Adressen?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13" name="Image 1" descr="/Users/jacobmenge/Desktop/kurs-26.2b-orga/folienwerkstatt/assets/diagramme/icon-anlage-0F7C8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210312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1214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Anlage ans MES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47872" y="2441448"/>
            <a:ext cx="15910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Maschine spricht Profinet oder OPC UA, die Auswertung erwartet MQTT. Wer übersetzt?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18" name="Image 2" descr="/Users/jacobmenge/Desktop/kurs-26.2b-orga/folienwerkstatt/assets/diagramme/icon-cloud-9A63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2103120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91072" y="21214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in die Cloud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91072" y="2441448"/>
            <a:ext cx="15910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Dieselbe Anwendung, neuer Ort. Latenz, Adressen und Firewall-Regeln ändern sich alle.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2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 drei Fälle begleiten uns durch den ganzen Kurs.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Netzwerke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WELTEN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Klassische IT trifft Industrie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Spezialisierung heißt „Systemintegration und Vernetzung“ – gemeint sind beide Welten.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975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70048" y="1975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Klassische 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47488" y="1975104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 und Anlagen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267712"/>
            <a:ext cx="8010144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340864"/>
            <a:ext cx="8193024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408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Vorrang hat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048" y="23408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Vertraulichkeit der Daten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47488" y="2340864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Verfügbarkeit der Anlage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26700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Zeitverhalten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048" y="26700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„schnell genug“ reicht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47488" y="2670048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garantierte Reaktionszeiten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" y="2999232"/>
            <a:ext cx="8193024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992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Lebensdauer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70048" y="29992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bis 5 Jahre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47488" y="2999232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bis 25 Jahre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" y="33284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Typische Protokolle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70048" y="33284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SSH, SMB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47488" y="3328416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Profinet, OPC UA, MQTT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" y="3657600"/>
            <a:ext cx="8193024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70048" y="3657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regelmäßig eingeplant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47488" y="3657600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im Wartungsfenster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beide Welten verbindet, muss die Regeln von beiden Seiten kennen.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Netzwerke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6/25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KERN DIESER FORTBILDUNG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bisher meist zu kurz kam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Ausbildung hat euch die Office-IT gegeben. Hier kommt die andere Hälfte dazu.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Kennt ihr schon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2121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und TCP/IP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Subnetting und Routing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DNS, DHCP, VLAN, VPN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Switches, Firewalls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Virtualisierung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Kommt neu dazu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41448"/>
            <a:ext cx="2121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Profinet, OPC UA, MQTT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Cyber-physische Systeme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und Orchestrierung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Verfügbarkeit rechnen, BCM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und Testmanagement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45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eigentliche Sprung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623820"/>
            <a:ext cx="2121408" cy="1152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Ausführen zum Planen.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habt Systeme betrieben – jetzt konzipiert, bewertet und verantwortet ihr sie.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Netzwerkabende sind der einzige größere Wiederholungsteil. Ab Abend 7 wird es für die meisten neu.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Netzwerke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Auffrischung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Begriffe, bei denen es gern auseinandergeht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KURZCHECK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Topologien – nur die eine Frage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topolog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520440"/>
            <a:ext cx="8010144" cy="8686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520440"/>
            <a:ext cx="41148" cy="86868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66674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den Chat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954526"/>
            <a:ext cx="7607808" cy="3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ist euch jede dieser Formen schon begegnet – im Job oder zuhause? Ein Beispiel je Form reicht. Aufgelöst wird Klick für Klick.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Grundbegriffe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8/25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KURZCHECK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Topologien – nur die eine Frage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topolog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474720"/>
            <a:ext cx="41148" cy="84124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Büro-LAN am Switch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WLAN am Access Point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kurz: fast jedes LAN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Grundbegriffe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9/25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KURZCHECK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Topologien – nur die eine Frage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topolog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474720"/>
            <a:ext cx="41148" cy="84124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Büro-LAN am Switch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WLAN am Access Point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kurz: fast jedes LAN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15184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2615184" y="3474720"/>
            <a:ext cx="41148" cy="841248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8"/>
          <p:cNvSpPr/>
          <p:nvPr/>
        </p:nvSpPr>
        <p:spPr>
          <a:xfrm>
            <a:off x="2852928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Maschinennetz mit MRP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Metro-Ringe im WAN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früher: Token Ring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Grundbegriffe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10/25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KURZCHECK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Topologien – nur die eine Frage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topolog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474720"/>
            <a:ext cx="41148" cy="84124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Büro-LAN am Switch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WLAN am Access Point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kurz: fast jedes LAN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15184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2615184" y="3474720"/>
            <a:ext cx="41148" cy="841248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8"/>
          <p:cNvSpPr/>
          <p:nvPr/>
        </p:nvSpPr>
        <p:spPr>
          <a:xfrm>
            <a:off x="2852928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Maschinennetz mit MRP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Metro-Ringe im WAN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früher: Token Ring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3474720"/>
            <a:ext cx="41148" cy="841248"/>
          </a:xfrm>
          <a:prstGeom prst="rect">
            <a:avLst/>
          </a:prstGeom>
          <a:solidFill>
            <a:srgbClr val="B33A3A"/>
          </a:solidFill>
          <a:ln/>
        </p:spPr>
      </p:sp>
      <p:sp>
        <p:nvSpPr>
          <p:cNvPr id="14" name="Text 11"/>
          <p:cNvSpPr/>
          <p:nvPr/>
        </p:nvSpPr>
        <p:spPr>
          <a:xfrm>
            <a:off x="4901184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CAN-Bus im Auto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Profibus, Modbus RTU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früher: Koax-Ethernet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Grundbegriffe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11/25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KURZCHECK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Topologien – nur die eine Frage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topolog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474720"/>
            <a:ext cx="41148" cy="84124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Büro-LAN am Switch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WLAN am Access Point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kurz: fast jedes LAN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15184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2615184" y="3474720"/>
            <a:ext cx="41148" cy="841248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8"/>
          <p:cNvSpPr/>
          <p:nvPr/>
        </p:nvSpPr>
        <p:spPr>
          <a:xfrm>
            <a:off x="2852928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Maschinennetz mit MRP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Metro-Ringe im WAN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früher: Token Ring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3474720"/>
            <a:ext cx="41148" cy="841248"/>
          </a:xfrm>
          <a:prstGeom prst="rect">
            <a:avLst/>
          </a:prstGeom>
          <a:solidFill>
            <a:srgbClr val="B33A3A"/>
          </a:solidFill>
          <a:ln/>
        </p:spPr>
      </p:sp>
      <p:sp>
        <p:nvSpPr>
          <p:cNvPr id="14" name="Text 11"/>
          <p:cNvSpPr/>
          <p:nvPr/>
        </p:nvSpPr>
        <p:spPr>
          <a:xfrm>
            <a:off x="4901184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CAN-Bus im Auto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Profibus, Modbus RTU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früher: Koax-Ethernet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11696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Shape 13"/>
          <p:cNvSpPr/>
          <p:nvPr/>
        </p:nvSpPr>
        <p:spPr>
          <a:xfrm>
            <a:off x="6711696" y="3474720"/>
            <a:ext cx="41148" cy="841248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7" name="Text 14"/>
          <p:cNvSpPr/>
          <p:nvPr/>
        </p:nvSpPr>
        <p:spPr>
          <a:xfrm>
            <a:off x="6949440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im Internet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WLAN-Mesh zuhause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Spine-Leaf im RZ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Grundbegriffe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DATENEINHEITEN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fließt eigentlich durch das Netz?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Namen für dieselben Daten. Der Unterschied ist nur, was drumherum steht.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9751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Einheit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92808" y="19751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Schicht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30168" y="19751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drumherum steht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267712"/>
            <a:ext cx="54864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340864"/>
            <a:ext cx="5669280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4086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892808" y="234086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physisch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30168" y="23408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nichts – nur das Signal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26700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92808" y="26700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– Sicherung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30168" y="26700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von Sender und Empfänger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" y="2999232"/>
            <a:ext cx="5669280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9923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892808" y="29992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– Vermittlung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30168" y="29992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von Quelle und Ziel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" y="33284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892808" y="33284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– Transport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30168" y="33284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Portnummern, Reihenfolge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" y="3657600"/>
            <a:ext cx="5669280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6576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892808" y="3657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– Anwendung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30168" y="36576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eigentliche Nachricht</a:t>
            </a:r>
            <a:endParaRPr lang="en-US" sz="1150" dirty="0"/>
          </a:p>
        </p:txBody>
      </p:sp>
      <p:pic>
        <p:nvPicPr>
          <p:cNvPr id="28" name="Image 0" descr="/Users/jacobmenge/Desktop/kurs-26.2b-orga/folienwerkstatt/assets/diagramme/dateneinhei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2340864"/>
            <a:ext cx="2304288" cy="164592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0" name="Text 27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jemand von „Paket“ spricht, meint er Layer 3. Bei „Frame“ ist er auf Layer 2.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Grundbegriffe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13/25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KENNZAHLEN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Bandbreite ist nicht Geschwindigkeit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bandbreite-laten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27632"/>
            <a:ext cx="8010144" cy="1600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346704"/>
            <a:ext cx="3895344" cy="10972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346704"/>
            <a:ext cx="41148" cy="109728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493008"/>
            <a:ext cx="34930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Jitter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780790"/>
            <a:ext cx="3493008" cy="5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Schwankende Latenz. Stört Telefonie und Video – ein Download merkt davon nichts.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81728" y="3346704"/>
            <a:ext cx="3895344" cy="10972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4681728" y="3346704"/>
            <a:ext cx="41148" cy="109728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9"/>
          <p:cNvSpPr/>
          <p:nvPr/>
        </p:nvSpPr>
        <p:spPr>
          <a:xfrm>
            <a:off x="4919472" y="3493008"/>
            <a:ext cx="34930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Paketverlust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19472" y="3780790"/>
            <a:ext cx="3493008" cy="5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unterwegs verloren geht. TCP schickt es nach – und das Nachschicken kostet die Zeit.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Grundbegriffe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14/25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Schichten denken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wichtigste Werkzeug des ganzen Abends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GRUNDIDEE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überhaupt Schichten?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Bekannt – aber die wenigsten benutzen es im Alltag wirklich. Genau darum geht es heute.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75104"/>
            <a:ext cx="8010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Schicht löst ein Problem und nutzt die Schicht darunter.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Schicht ist austauschbar: WLAN statt Kabel ändert nichts an eurer Anwendung.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lassen sich eingrenzen, statt zu raten. Das ist der Alltagsnutzen.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Auch die Abwehr sitzt schichtweise: Portsicherheit auf 2, Firewall auf 3 und 4, Web-Filter auf 7.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520440"/>
            <a:ext cx="8010144" cy="86868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3520440"/>
            <a:ext cx="41148" cy="86868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66674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Nutzen im Alltag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3954526"/>
            <a:ext cx="7607808" cy="3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Fehler sitzt immer auf einer bestimmten Schicht. Wer die findet, hört auf zu raten. Das ist der ganze Trick – und der Rest des Abends.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und TCP/IP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15/25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AUFFRISCHUNG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beiden Modelle nebeneinander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osi-tcp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8010144" cy="2514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Faustregel: OSI zum Erklären, TCP/IP zum Arbeiten – die Schicht-Nummern nimmt trotzdem jeder aus OSI.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und TCP/IP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16/25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MIT EUREN DATEN PASSIERT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Kapselung – der Umschlag im Umschlag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kapsel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8010144" cy="23042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Router packt nur bis Schicht 3 aus – was in der HTTP-Nachricht steht, geht ihn nichts 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und TCP/IP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17/25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WERKZEUGKASTEN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Befehl je Schicht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diagnose-lei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23360"/>
            <a:ext cx="8010144" cy="438912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4023360"/>
            <a:ext cx="41148" cy="43891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4169664"/>
            <a:ext cx="7607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macOS: ifconfig · arp -a · traceroute · dig · nc -vz host port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und TCP/IP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18/25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Schichten-Check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Minuten in Gruppen – euer eigener Rechner ist das Labor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55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messt ihr an eurem eigenen Rechner nach, was wir eben zusammen aufgebaut haben. Nichts zu installieren.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956816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5681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35608" y="1956816"/>
            <a:ext cx="7141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Netz-Steckbrief: sechs Werte, jeder auf seine Schicht einsortiert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32257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35608" y="2322576"/>
            <a:ext cx="7141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Befehle – und die Frage, was ein Erfolg jeweils beweist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688336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68833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35608" y="2688336"/>
            <a:ext cx="7141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Störungen einsortieren. Das ist der Kern, dafür ist Zeit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0540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35608" y="3054096"/>
            <a:ext cx="7141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Wegverfolgungen nebeneinanderlegen und vergleichen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529584"/>
            <a:ext cx="8010144" cy="87782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529584"/>
            <a:ext cx="41148" cy="877824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675888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 – beides braucht ihr gleich im Raum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963670"/>
            <a:ext cx="7607808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Befehle für alle drei Systeme:   jacobmenge.github.io/kurs-unterlagen/netzwerke/praxis-schichten-check/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 eintragen:   &lt;Link zum Ergebnis-Dokument hier eintragen&gt;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19/25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Gruppen zu dritt oder viert. Eine Person teilt den Bildschirm, alle tippen bei sich mit.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Öffnet den Link zur Kursseite jetzt, bevor die Räume aufgehen – im Breakout-Raum seht ihr diese Folie nicht mehr.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Sprecher und euer Auswertungsfall stehen fest – bearbeitet trotzdem alle fünf Störungen.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PowerShell, nicht die Eingabeaufforderung. Test-NetConnection gibt es nur dort.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in eurem Raum auf „Um Hilfe bitten“ klicken. Dann komme ich rein.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20:25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Schreibt mit. Was nicht im Dokument steht, haben wir nachher nicht.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20/25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STATION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fünf Störungen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jedem Fall drei Antworten: Welche Schicht? Welcher Befehl weist es nach? Und was steckt wahrscheinlich dahinter?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8010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Netzwerksymbol zeigt ein Kreuz, es steckt kein Kabel.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Rechner hat die Adresse 169.254.12.7 und kommt nirgends hin.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8.8.8.8 läuft, ping google.de bringt einen Fehler.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Server antwortet auf ping, aber die Webseite lädt nicht.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ist erreichbar, aber quälend langsam.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mindestens zweien ist die naheliegende Antwort nicht die vollständige.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21/25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Zusammentragen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habt ihr gefunden – und was hat euch überrascht?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30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gehen wir gemeinsam durch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645920"/>
            <a:ext cx="8266176" cy="34747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78408" y="1645920"/>
            <a:ext cx="7598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Steckbrief – und warum fast alle eine 192.168er-Adresse haben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19933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78408" y="1993392"/>
            <a:ext cx="7598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fe80::-Adresse, die dabei mit aufgetaucht ist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340864"/>
            <a:ext cx="8266176" cy="34747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408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78408" y="2340864"/>
            <a:ext cx="7598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fünf Befehle: Was beweist ein Erfolg, was beweist er nicht?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6883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78408" y="2688336"/>
            <a:ext cx="7598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Störungen: jede Gruppe begründet ihren Fall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035808"/>
            <a:ext cx="8266176" cy="34747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0358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78408" y="3035808"/>
            <a:ext cx="7598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danach die Auflösung – und die Fälle, bei denen es nicht reicht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33832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8408" y="3383280"/>
            <a:ext cx="7598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bei der Kür war: zwei Wegverfolgungen nebeneinander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" y="3730752"/>
            <a:ext cx="8266176" cy="34747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7307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78408" y="3730752"/>
            <a:ext cx="7598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Satz: Was hat euch überrascht?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Begründung zählt mehr als die Antwort. Woran habt ihr die Schicht erkannt?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22/25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Auflösung der fünf Störungen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61488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Schicht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90288" y="162763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Nachweis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1920240"/>
            <a:ext cx="8010144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993392"/>
            <a:ext cx="8193024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9933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Kabel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61488" y="19933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90288" y="1993392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ipconfig: Medium getrennt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2377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169.254.x.x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61488" y="2377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auf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90288" y="237744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Ursache: kein DHCP erreichbar – oder Schicht 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" y="2761488"/>
            <a:ext cx="8193024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7614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Name geht nicht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61488" y="27614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– DNS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90288" y="276148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nslookup scheitert, ping auf die IP läuft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31455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ja, Web nein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61488" y="31455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oder 7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90288" y="3145536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Test-NetConnection oder nc -vz auf Port 443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" y="3529584"/>
            <a:ext cx="8193024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295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langsam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61488" y="35295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Ausfall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90288" y="3529584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 und Verlust in der ping-Ausgabe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unten nach oben. Die unterste stumme Schicht sagt euch, wo ihr weitersucht – nicht immer, woran es liegt.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23/25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 DES ABENDS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nehmt ihr heute mit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Dieselben Daten heißen je nach Schicht Frame, Paket oder Segment.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Kapselung: nichts wird ersetzt, es kommt nur außen etwas dazu.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sieben Schichten, TCP/IP vier – gemessen habt ihr heute auf allen außer 5 und 6.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Bandbreite ist nicht Geschwindigkeit. Latenz ist die andere Hälfte.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Fehlersuche: von unten nach oben, und jeder Befehl beweist nur seine Schicht.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566160"/>
            <a:ext cx="8010144" cy="96012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566160"/>
            <a:ext cx="41148" cy="9601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1246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Begriffe von heute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00246"/>
            <a:ext cx="7607808" cy="4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Schichtenmodell · OSI · TCP/IP · Topologie · Latenz · Bandbreite · Jitter · Frame, Paket, Segment · Kapselung. Die Begriffe begleiten euch bis zum Schluss – im Kurs wie in der Prüfung.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24/25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NACHARBEIT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Montag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Bitte und zwei Angebote – die Bitte zuerst.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Standortbestimmung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Formular aus dem Chat: gut 20 Minuten, bis Montag. Kein Test – es zeigt mir, wo wir gründlich einsteigen müssen.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etwas hakte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„Grundbegriffe“ und „OSI und TCP/IP“ stehen auf der Kursseite. Und wer nicht bis zu den Störungen kam: Station 3 lohnt sich.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Vorbereiten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 rechnen wir Subnetze. Papier und Stift reichen – Taschenrechner braucht ihr nicht.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Montag, 31. August, 18:00 Uhr – Adressierung und Subnetting.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25/25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von heute steht zum Nachlesen auf der Kursseite – der ganze Netzwerk-Block ist schon online.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31. August · Adressierung und Subnetting · Papier und Stift mitbringen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Netzwerke – Grundlagen, Begriffe und Schichtenmodelle</dc:title>
  <dc:subject>Abend 1 im Themenblock Planung, Konzeptionierung, Integration</dc:subject>
  <dc:creator>Jacob Menge</dc:creator>
  <cp:lastModifiedBy>Jacob Menge</cp:lastModifiedBy>
  <cp:revision>1</cp:revision>
  <dcterms:created xsi:type="dcterms:W3CDTF">2026-08-31T15:14:31Z</dcterms:created>
  <dcterms:modified xsi:type="dcterms:W3CDTF">2026-08-31T15:14:31Z</dcterms:modified>
</cp:coreProperties>
</file>