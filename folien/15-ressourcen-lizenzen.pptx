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slideMasters/slideMaster27.xml" ContentType="application/vnd.openxmlformats-officedocument.presentationml.slideMaster+xml"/>
  <Override PartName="/ppt/slides/slide27.xml" ContentType="application/vnd.openxmlformats-officedocument.presentationml.slide+xml"/>
  <Override PartName="/ppt/slideMasters/slideMaster28.xml" ContentType="application/vnd.openxmlformats-officedocument.presentationml.slideMaster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</p:sldIdLst>
  <p:notesMasterIdLst>
    <p:notesMasterId r:id="rId3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slide" Target="slides/slide27.xml"/><Relationship Id="rId29" Type="http://schemas.openxmlformats.org/officeDocument/2006/relationships/slide" Target="slides/slide28.xml"/><Relationship Id="rId30" Type="http://schemas.openxmlformats.org/officeDocument/2006/relationships/notesMaster" Target="notesMasters/notesMaster1.xml"/><Relationship Id="rId31" Type="http://schemas.openxmlformats.org/officeDocument/2006/relationships/presProps" Target="presProps.xml"/><Relationship Id="rId32" Type="http://schemas.openxmlformats.org/officeDocument/2006/relationships/viewProps" Target="viewProps.xml"/><Relationship Id="rId33" Type="http://schemas.openxmlformats.org/officeDocument/2006/relationships/theme" Target="theme/theme1.xml"/><Relationship Id="rId3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_rels/notesSlide2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7.xml"/>
		</Relationships>
</file>

<file path=ppt/notesSlides/_rels/notesSlide2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jacobmenge/Desktop/kurs-26.2b-orga/folienwerkstatt/assets/icons/cloudheld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26680" y="365760"/>
            <a:ext cx="868680" cy="86868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8016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1"/>
          <p:cNvSpPr/>
          <p:nvPr/>
        </p:nvSpPr>
        <p:spPr>
          <a:xfrm>
            <a:off x="914400" y="1280160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spc="22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THEMA 1 · ABEND 17</a:t>
            </a:r>
            <a:endParaRPr lang="en-US" sz="1200" dirty="0"/>
          </a:p>
        </p:txBody>
      </p:sp>
      <p:sp>
        <p:nvSpPr>
          <p:cNvPr id="5" name="Text 2"/>
          <p:cNvSpPr/>
          <p:nvPr/>
        </p:nvSpPr>
        <p:spPr>
          <a:xfrm>
            <a:off x="914400" y="1682496"/>
            <a:ext cx="7635240" cy="102412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4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und Lizenzen</a:t>
            </a:r>
            <a:endParaRPr lang="en-US" sz="4200" dirty="0"/>
          </a:p>
        </p:txBody>
      </p:sp>
      <p:sp>
        <p:nvSpPr>
          <p:cNvPr id="6" name="Text 3"/>
          <p:cNvSpPr/>
          <p:nvPr/>
        </p:nvSpPr>
        <p:spPr>
          <a:xfrm>
            <a:off x="914400" y="2761488"/>
            <a:ext cx="76352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7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kostet das neue Konzept, wer baut es auf, bis wann und was darf man überhaupt nutzen?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914400" y="3986784"/>
            <a:ext cx="1828800" cy="0"/>
          </a:xfrm>
          <a:prstGeom prst="line">
            <a:avLst/>
          </a:prstGeom>
          <a:noFill/>
          <a:ln w="12700">
            <a:solidFill>
              <a:srgbClr val="DFE3F0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14400" y="4078224"/>
            <a:ext cx="76352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Mittwoch, 21. Oktober 2026 · 18:00 bis 21:00 Uhr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ABLAUF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uns heute Abend erwartet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18:00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572768" y="1737360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Warmup: Was kostet ein Server wirklich?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202082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18:10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572768" y="2020824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Ressourcen: vier Dimensionen, schätzen, Aufwand gegen Dauer, Migration, CapEx und OpEx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304288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04288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18:35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572768" y="2304288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Lizenzen: Zählweisen, Windows Server pro Kern, Open Source, mit Zuordnungsrunde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587752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19:00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572768" y="2587752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Pause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871216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871216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19:10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572768" y="2871216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Praxiszeit in Breakouts: Schafft Voltrad das? Fünf Stationen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3154680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20:20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572768" y="3154680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vor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438912" y="3438144"/>
            <a:ext cx="8266176" cy="28346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21" name="Text 19"/>
          <p:cNvSpPr/>
          <p:nvPr/>
        </p:nvSpPr>
        <p:spPr>
          <a:xfrm>
            <a:off x="566928" y="3438144"/>
            <a:ext cx="100584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20:40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1572768" y="3438144"/>
            <a:ext cx="7004304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Lösung und Ausblick</a:t>
            </a:r>
            <a:endParaRPr lang="en-US" sz="1050" dirty="0"/>
          </a:p>
        </p:txBody>
      </p:sp>
      <p:sp>
        <p:nvSpPr>
          <p:cNvPr id="23" name="Shape 21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4" name="Text 22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wird gerechnet: Zeit, Geld und Lizenzen für das Sollkonzept von Voltrad.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1/23</a:t>
            </a: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SCHÄTZUNG IN DEN CHAT, 60 SEKUNDEN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841248" y="1719072"/>
            <a:ext cx="7461504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Server kostet 9.000 €.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kostet er Voltrad in fünf Jahren</a:t>
            </a:r>
            <a:endParaRPr lang="en-US" sz="2200" dirty="0"/>
          </a:p>
          <a:p>
            <a:pPr algn="ctr" indent="0" marL="0">
              <a:buNone/>
            </a:pPr>
            <a:r>
              <a:rPr lang="en-US" sz="22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wirklich, alles zusammen?</a:t>
            </a:r>
            <a:endParaRPr lang="en-US" sz="2200" dirty="0"/>
          </a:p>
        </p:txBody>
      </p:sp>
      <p:sp>
        <p:nvSpPr>
          <p:cNvPr id="6" name="Text 4"/>
          <p:cNvSpPr/>
          <p:nvPr/>
        </p:nvSpPr>
        <p:spPr>
          <a:xfrm>
            <a:off x="566928" y="361188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eure Nachricht aus: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2944368" y="3593592"/>
            <a:ext cx="47548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9A6310"/>
            </a:solidFill>
          </a:ln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Schätzung: 15.000 €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66928" y="416052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9" name="Text 7"/>
          <p:cNvSpPr/>
          <p:nvPr/>
        </p:nvSpPr>
        <p:spPr>
          <a:xfrm>
            <a:off x="749808" y="411480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Zahl reicht. Denkt an alles, was nach dem Kauf noch kommt.</a:t>
            </a:r>
            <a:endParaRPr lang="en-US" sz="1200" dirty="0"/>
          </a:p>
        </p:txBody>
      </p:sp>
      <p:sp>
        <p:nvSpPr>
          <p:cNvPr id="10" name="Shape 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2/23</a:t>
            </a:r>
            <a:endParaRPr lang="en-US" sz="10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WARMUP · AUFLÖSUNG · TCO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Kaufpreis ist nur die Spitze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tco-eisber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15384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169664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Wer nur den Kaufpreis vergleicht, vergleicht das Falsche.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Einstieg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3/23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FBF2E3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01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Schafft Voltrad das überhaupt?</a:t>
            </a:r>
            <a:endParaRPr lang="en-US" sz="13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SIND MEHR ALS GELD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Vier Dimensionen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vier-dimension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61518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4/23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DREIPUNKTSCHÄTZUNG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Schätzen mit drei Werten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dreipunk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Station 1 schätzt ihr so den Umzug der Datenbank.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5/23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VON STUNDEN ZU WOCHEN IM KALENDER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Aufwand ist nicht Dauer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aufwand-dauer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56032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6/23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 MIGRATIONSSTRATEGIEN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Vom Alten zum Neuen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migratio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25196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7" name="Text 4"/>
          <p:cNvSpPr/>
          <p:nvPr/>
        </p:nvSpPr>
        <p:spPr>
          <a:xfrm>
            <a:off x="749808" y="420624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Wahl ist eine Abwägung zwischen Zeit, Geld und Risiko.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7/23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CAPEX, OPEX UND DAS LASTPROFIL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Kaufen oder mieten?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capex-opex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Ressourcen planen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8/23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6F4F5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02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Was darf Voltrad nutzen und was kostet das?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ZÄHLWEISEN UND BEZAHLART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Wonach wird abgerechnet?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zaehlweis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31638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9/23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STANDARD ODER DATACENTER?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Server lizenzieren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windows-kern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83464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10/23</a:t>
            </a:r>
            <a:endParaRPr lang="en-US" sz="10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WICHTIGSTE FALLE BEI WINDOWS SERVER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Zwei Hosts, die sich vertreten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Fällt ein Host aus, sollen seine VMs auf dem anderen weiterlaufen. Dann gilt: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66928" y="1965960"/>
            <a:ext cx="8010144" cy="182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Lizenz gehört zu einem Host, nicht zur VM. Eine VM nimmt ihre Lizenz beim Umzug nicht mit.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Lizenz darf nur alle 90 Tage auf einen anderen Host umgezogen werden.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Deshalb muss jeder Host so lizenziert sein, als liefen alle VMs auf ihm.</a:t>
            </a:r>
            <a:endParaRPr lang="en-US" sz="1250" dirty="0"/>
          </a:p>
          <a:p>
            <a:pPr marL="254000" indent="-254000">
              <a:lnSpc>
                <a:spcPct val="100000"/>
              </a:lnSpc>
              <a:spcAft>
                <a:spcPts val="900"/>
              </a:spcAft>
              <a:buClr>
                <a:srgbClr val="9A6310"/>
              </a:buClr>
              <a:buSzPct val="100000"/>
              <a:buChar char="▸"/>
            </a:pPr>
            <a:r>
              <a:rPr lang="en-US" sz="12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Beispiel: 4 VMs, 2 Hosts. Jeder Host braucht 2 Standard-Lizenzen, zusammen also 4.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8" name="Text 6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In Station 4 rechnet ihr das für Voltrad aus: zwei Hosts, sechs VMs.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11/23</a:t>
            </a:r>
            <a:endParaRPr lang="en-US" sz="10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KOSTENLOS HEISST NICHT PFLICHTENFREI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open-sourc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35024"/>
            <a:ext cx="8010144" cy="279806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12/23</a:t>
            </a:r>
            <a:endParaRPr lang="en-US" sz="10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WIE WIRD HIER GEZÄHLT? ANTWORTEN IN DEN CHAT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Ordnet zu: pro Gerät, pro Person, gleichzeitig, pro Kern oder Open Source. Alles in eine Nachricht.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38912" y="201168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Text 5"/>
          <p:cNvSpPr/>
          <p:nvPr/>
        </p:nvSpPr>
        <p:spPr>
          <a:xfrm>
            <a:off x="566928" y="20116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1115568" y="20116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Microsoft 365 für jede Mitarbeiterin mit Laptop und Handy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66928" y="228600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115568" y="228600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SQL Server Enterprise auf einem Server mit 16 Kernen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38912" y="256032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2" name="Text 10"/>
          <p:cNvSpPr/>
          <p:nvPr/>
        </p:nvSpPr>
        <p:spPr>
          <a:xfrm>
            <a:off x="566928" y="256032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1115568" y="256032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CAD-Programm mit Lizenzserver, das 8 von 12 Personen gleichzeitig nutzen dürfen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66928" y="283464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1115568" y="283464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Windows 11 Pro, vorinstalliert auf einem neuen PC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38912" y="3108960"/>
            <a:ext cx="8266176" cy="2743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7" name="Text 15"/>
          <p:cNvSpPr/>
          <p:nvPr/>
        </p:nvSpPr>
        <p:spPr>
          <a:xfrm>
            <a:off x="566928" y="310896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1115568" y="310896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Nextcloud, intern auf einem eigenen Server betrieben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66928" y="3383280"/>
            <a:ext cx="548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100" dirty="0"/>
          </a:p>
        </p:txBody>
      </p:sp>
      <p:sp>
        <p:nvSpPr>
          <p:cNvPr id="20" name="Text 18"/>
          <p:cNvSpPr/>
          <p:nvPr/>
        </p:nvSpPr>
        <p:spPr>
          <a:xfrm>
            <a:off x="1115568" y="3383280"/>
            <a:ext cx="746150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 Programm am Prüfstand, das jede Schicht am selben Rechner nutzt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566928" y="3794760"/>
            <a:ext cx="23774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sieht eure Nachricht aus: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2944368" y="3776472"/>
            <a:ext cx="4754880" cy="365760"/>
          </a:xfrm>
          <a:prstGeom prst="rect">
            <a:avLst/>
          </a:prstGeom>
          <a:solidFill>
            <a:srgbClr val="FFFFFF"/>
          </a:solidFill>
          <a:ln w="15875">
            <a:solidFill>
              <a:srgbClr val="9A6310"/>
            </a:solidFill>
          </a:ln>
        </p:spPr>
        <p:txBody>
          <a:bodyPr wrap="square" lIns="0" tIns="88900" rIns="8890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A: …  B: …  C: …  D: …  E: …  F: …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25" name="Text 23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13/23</a:t>
            </a:r>
            <a:endParaRPr lang="en-US" sz="105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0F7C8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AUFLÖSUNG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Zuordnungsrunde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Person (Named User): ein Konto, egal auf wie vielen Geräten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066544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B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2066544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Kern: alle 16 Kerne des Servers werden lizenziert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395728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395728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2395728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gleichzeitig (Concurrent, Floating): der Lizenzserver zählt, wer gerade arbeitet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724912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724912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Gerät (OEM, vom PC-Hersteller vorinstalliert): an diesen PC gebunden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054096"/>
            <a:ext cx="8266176" cy="329184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054096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E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5568" y="3054096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Open Source (AGPL): keine Gebühr, unverändert betrieben ohne Pflichten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566928" y="3383280"/>
            <a:ext cx="5486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0F7C86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1115568" y="3383280"/>
            <a:ext cx="746150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 Gerät: viele Personen, ein Rechner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66928" y="3977640"/>
            <a:ext cx="32004" cy="256032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21" name="Text 19"/>
          <p:cNvSpPr/>
          <p:nvPr/>
        </p:nvSpPr>
        <p:spPr>
          <a:xfrm>
            <a:off x="749808" y="393192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Frage dahinter: Was zählt der Hersteller? Geräte, Personen, gleichzeitige Nutzung oder Prozessorkerne.</a:t>
            </a:r>
            <a:endParaRPr lang="en-US" sz="1200" dirty="0"/>
          </a:p>
        </p:txBody>
      </p:sp>
      <p:sp>
        <p:nvSpPr>
          <p:cNvPr id="22" name="Shape 20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14/23</a:t>
            </a:r>
            <a:endParaRPr lang="en-US" sz="105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355080" y="0"/>
            <a:ext cx="2788920" cy="5143500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3" name="Shape 1"/>
          <p:cNvSpPr/>
          <p:nvPr/>
        </p:nvSpPr>
        <p:spPr>
          <a:xfrm>
            <a:off x="6355080" y="0"/>
            <a:ext cx="45720" cy="514350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4" name="Text 2"/>
          <p:cNvSpPr/>
          <p:nvPr/>
        </p:nvSpPr>
        <p:spPr>
          <a:xfrm>
            <a:off x="6629400" y="1463040"/>
            <a:ext cx="21945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400" b="1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03</a:t>
            </a:r>
            <a:endParaRPr lang="en-US" sz="8400" dirty="0"/>
          </a:p>
        </p:txBody>
      </p:sp>
      <p:sp>
        <p:nvSpPr>
          <p:cNvPr id="5" name="Shape 3"/>
          <p:cNvSpPr/>
          <p:nvPr/>
        </p:nvSpPr>
        <p:spPr>
          <a:xfrm>
            <a:off x="566928" y="1883664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2084832"/>
            <a:ext cx="53949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30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3000" dirty="0"/>
          </a:p>
        </p:txBody>
      </p:sp>
      <p:sp>
        <p:nvSpPr>
          <p:cNvPr id="7" name="Text 5"/>
          <p:cNvSpPr/>
          <p:nvPr/>
        </p:nvSpPr>
        <p:spPr>
          <a:xfrm>
            <a:off x="566928" y="3017520"/>
            <a:ext cx="5394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Schafft Voltrad das?</a:t>
            </a:r>
            <a:endParaRPr lang="en-US" sz="13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EINE KARTE, FÜNF STATIONEN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Euer Auftrag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auftrag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15/23</a:t>
            </a:r>
            <a:endParaRPr lang="en-US" sz="105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3843A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BREAKOUT · 19:10 BIS 20:20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 läuft die Praxiszeit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536192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53619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1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1664208" y="1536192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Zeitplan: Umzug schätzen, in Wochen umrechnen, Termin prüfen · 15 Min.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566928" y="1792224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2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1664208" y="1792224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Migration: je System eine Strategie, Rückfallplan für die Datenbank · 10 Min.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438912" y="2048256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048256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3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1664208" y="2048256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Kosten: Konfigurator fünf Jahre in der Cloud oder auf eigenen Servern · 10 Min.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66928" y="2304288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4</a:t>
            </a:r>
            <a:endParaRPr lang="en-US" sz="1050" dirty="0"/>
          </a:p>
        </p:txBody>
      </p:sp>
      <p:sp>
        <p:nvSpPr>
          <p:cNvPr id="14" name="Text 12"/>
          <p:cNvSpPr/>
          <p:nvPr/>
        </p:nvSpPr>
        <p:spPr>
          <a:xfrm>
            <a:off x="1664208" y="2304288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Lizenzen: Windows Server und CAD durchrechnen · 15 Min.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438912" y="2560320"/>
            <a:ext cx="8266176" cy="256032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2560320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Station 5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1664208" y="2560320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Budget: Reicht es? Eure Empfehlung in drei Sätzen · 8 Min.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66928" y="2816352"/>
            <a:ext cx="10972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dirty="0">
                <a:solidFill>
                  <a:srgbClr val="3843A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Danach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1664208" y="2816352"/>
            <a:ext cx="6912864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Vorstellung vorbereiten · 2 Min., dann Bonus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566928" y="3200400"/>
            <a:ext cx="8010144" cy="1243584"/>
          </a:xfrm>
          <a:prstGeom prst="rect">
            <a:avLst/>
          </a:prstGeom>
          <a:solidFill>
            <a:srgbClr val="EEF0FB"/>
          </a:solidFill>
          <a:ln/>
        </p:spPr>
      </p:sp>
      <p:sp>
        <p:nvSpPr>
          <p:cNvPr id="21" name="Shape 19"/>
          <p:cNvSpPr/>
          <p:nvPr/>
        </p:nvSpPr>
        <p:spPr>
          <a:xfrm>
            <a:off x="566928" y="3200400"/>
            <a:ext cx="41148" cy="1243584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22" name="Text 20"/>
          <p:cNvSpPr/>
          <p:nvPr/>
        </p:nvSpPr>
        <p:spPr>
          <a:xfrm>
            <a:off x="804672" y="3346704"/>
            <a:ext cx="7607808" cy="24206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Jetzt öffnen, alles steht auf der Kursseite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804672" y="3634486"/>
            <a:ext cx="7607808" cy="69062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Übung:  jacobmenge.github.io/kurs-unterlagen/infrastruktur-planung/praxis-ressourcen/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Theorie:  jacobmenge.github.io/kurs-unterlagen/infrastruktur-planung/ressourcen-planen/</a:t>
            </a:r>
            <a:endParaRPr lang="en-US" sz="100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 20:20 stellt jede Gruppe in fünf Minuten vor.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Heute plant ihr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16/23</a:t>
            </a:r>
            <a:endParaRPr lang="en-US" sz="105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FÜNF MINUTEN JE GRUPPE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Gruppe stellt vor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438912" y="1737360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Text 4"/>
          <p:cNvSpPr/>
          <p:nvPr/>
        </p:nvSpPr>
        <p:spPr>
          <a:xfrm>
            <a:off x="566928" y="1737360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</a:t>
            </a:r>
            <a:endParaRPr lang="en-US" sz="1150" dirty="0"/>
          </a:p>
        </p:txBody>
      </p:sp>
      <p:sp>
        <p:nvSpPr>
          <p:cNvPr id="7" name="Text 5"/>
          <p:cNvSpPr/>
          <p:nvPr/>
        </p:nvSpPr>
        <p:spPr>
          <a:xfrm>
            <a:off x="1115568" y="1737360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Schafft das Team den Termin am 12.01.? Wie habt ihr gerechnet?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566928" y="2121408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1115568" y="2121408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Migration für Datenbank, Konfigurator und Bürodateien?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438912" y="2505456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Text 9"/>
          <p:cNvSpPr/>
          <p:nvPr/>
        </p:nvSpPr>
        <p:spPr>
          <a:xfrm>
            <a:off x="566928" y="2505456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1115568" y="2505456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Cloud oder eigene Server für den Konfigurator, mit Zahl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66928" y="2889504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1115568" y="2889504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Welche Lizenzen für Windows Server und CAD?</a:t>
            </a:r>
            <a:endParaRPr lang="en-US" sz="1150" dirty="0"/>
          </a:p>
        </p:txBody>
      </p:sp>
      <p:sp>
        <p:nvSpPr>
          <p:cNvPr id="15" name="Shape 13"/>
          <p:cNvSpPr/>
          <p:nvPr/>
        </p:nvSpPr>
        <p:spPr>
          <a:xfrm>
            <a:off x="438912" y="3273552"/>
            <a:ext cx="8266176" cy="384048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6" name="Text 14"/>
          <p:cNvSpPr/>
          <p:nvPr/>
        </p:nvSpPr>
        <p:spPr>
          <a:xfrm>
            <a:off x="566928" y="3273552"/>
            <a:ext cx="5486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9A6310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5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1115568" y="3273552"/>
            <a:ext cx="746150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Reicht das Budget? Eure Empfehlung an die Geschäftsführung</a:t>
            </a:r>
            <a:endParaRPr lang="en-US" sz="1150" dirty="0"/>
          </a:p>
        </p:txBody>
      </p:sp>
      <p:sp>
        <p:nvSpPr>
          <p:cNvPr id="18" name="Shape 16"/>
          <p:cNvSpPr/>
          <p:nvPr/>
        </p:nvSpPr>
        <p:spPr>
          <a:xfrm>
            <a:off x="566928" y="406908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402336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 der zweiten Gruppe nur noch: Was habt ihr anders entschieden und warum?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17/23</a:t>
            </a:r>
            <a:endParaRPr lang="en-US" sz="10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SCHAFFT DAS TEAM DEN TERMIN?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1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loesung-zeitpla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4320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18/23</a:t>
            </a:r>
            <a:endParaRPr lang="en-US" sz="10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 SYSTEM EINE STRATEGIE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2 · Lösung</a:t>
            </a:r>
            <a:endParaRPr lang="en-US" sz="2600" dirty="0"/>
          </a:p>
        </p:txBody>
      </p:sp>
      <p:sp>
        <p:nvSpPr>
          <p:cNvPr id="5" name="Shape 3"/>
          <p:cNvSpPr/>
          <p:nvPr/>
        </p:nvSpPr>
        <p:spPr>
          <a:xfrm>
            <a:off x="566928" y="1554480"/>
            <a:ext cx="2523744" cy="23774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6" name="Shape 4"/>
          <p:cNvSpPr/>
          <p:nvPr/>
        </p:nvSpPr>
        <p:spPr>
          <a:xfrm>
            <a:off x="566928" y="1554480"/>
            <a:ext cx="41148" cy="2377440"/>
          </a:xfrm>
          <a:prstGeom prst="rect">
            <a:avLst/>
          </a:prstGeom>
          <a:solidFill>
            <a:srgbClr val="B33A3A"/>
          </a:solidFill>
          <a:ln/>
        </p:spPr>
      </p:sp>
      <p:sp>
        <p:nvSpPr>
          <p:cNvPr id="7" name="Text 5"/>
          <p:cNvSpPr/>
          <p:nvPr/>
        </p:nvSpPr>
        <p:spPr>
          <a:xfrm>
            <a:off x="804672" y="170078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Datenbank: Big Bang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804672" y="2039112"/>
            <a:ext cx="21214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 einem geplanten Wochenende umziehen. Zwei Datenbanken parallel wären fehleranfällig.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Rückfallplan: Die alte Datenbank bleibt stehen. Klappt der Test bis Sonntag 14 Uhr nicht, zurück. Das entscheidet Frau Vogt mit Herrn Okafor.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3310128" y="1554480"/>
            <a:ext cx="2523744" cy="23774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0" name="Shape 8"/>
          <p:cNvSpPr/>
          <p:nvPr/>
        </p:nvSpPr>
        <p:spPr>
          <a:xfrm>
            <a:off x="3310128" y="1554480"/>
            <a:ext cx="41148" cy="2377440"/>
          </a:xfrm>
          <a:prstGeom prst="rect">
            <a:avLst/>
          </a:prstGeom>
          <a:solidFill>
            <a:srgbClr val="0F7C86"/>
          </a:solidFill>
          <a:ln/>
        </p:spPr>
      </p:sp>
      <p:sp>
        <p:nvSpPr>
          <p:cNvPr id="11" name="Text 9"/>
          <p:cNvSpPr/>
          <p:nvPr/>
        </p:nvSpPr>
        <p:spPr>
          <a:xfrm>
            <a:off x="3547872" y="1700784"/>
            <a:ext cx="2121408" cy="45669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Konfigurator: Parallel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3547872" y="2203196"/>
            <a:ext cx="2121408" cy="160985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Der neue in der Cloud läuft neben dem alten. Erst testen, dann den Namen umstellen, unter dem Kunden ihn aufrufen (DNS).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Rückweg: den Namen wieder auf den alten Server zeigen lassen, in Minuten erledigt.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6053328" y="1554480"/>
            <a:ext cx="2523744" cy="237744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4" name="Shape 12"/>
          <p:cNvSpPr/>
          <p:nvPr/>
        </p:nvSpPr>
        <p:spPr>
          <a:xfrm>
            <a:off x="6053328" y="1554480"/>
            <a:ext cx="41148" cy="2377440"/>
          </a:xfrm>
          <a:prstGeom prst="rect">
            <a:avLst/>
          </a:prstGeom>
          <a:solidFill>
            <a:srgbClr val="3843AF"/>
          </a:solidFill>
          <a:ln/>
        </p:spPr>
      </p:sp>
      <p:sp>
        <p:nvSpPr>
          <p:cNvPr id="15" name="Text 13"/>
          <p:cNvSpPr/>
          <p:nvPr/>
        </p:nvSpPr>
        <p:spPr>
          <a:xfrm>
            <a:off x="6291072" y="1700784"/>
            <a:ext cx="21214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Büro: Schrittweise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291072" y="2039112"/>
            <a:ext cx="2121408" cy="177393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Abteilung für Abteilung nach Microsoft 365.</a:t>
            </a:r>
            <a:endParaRPr lang="en-US" sz="1050" dirty="0"/>
          </a:p>
          <a:p>
            <a:pPr indent="0" marL="0">
              <a:lnSpc>
                <a:spcPct val="92000"/>
              </a:lnSpc>
              <a:spcAft>
                <a:spcPts val="500"/>
              </a:spcAft>
              <a:buNone/>
            </a:pPr>
            <a:r>
              <a:rPr lang="en-US" sz="105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Jede Abteilung prüft eine Woche, dann folgt die nächste. Fehler treffen nur wenige.</a:t>
            </a:r>
            <a:endParaRPr lang="en-US" sz="1050" dirty="0"/>
          </a:p>
        </p:txBody>
      </p:sp>
      <p:sp>
        <p:nvSpPr>
          <p:cNvPr id="17" name="Shape 15"/>
          <p:cNvSpPr/>
          <p:nvPr/>
        </p:nvSpPr>
        <p:spPr>
          <a:xfrm>
            <a:off x="566928" y="4178808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8" name="Text 16"/>
          <p:cNvSpPr/>
          <p:nvPr/>
        </p:nvSpPr>
        <p:spPr>
          <a:xfrm>
            <a:off x="749808" y="4133088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Andere Wahl ist richtig, wenn die Begründung Zeit, Geld und Risiko abwägt.</a:t>
            </a:r>
            <a:endParaRPr lang="en-US" sz="1200" dirty="0"/>
          </a:p>
        </p:txBody>
      </p:sp>
      <p:sp>
        <p:nvSpPr>
          <p:cNvPr id="19" name="Shape 17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19/23</a:t>
            </a:r>
            <a:endParaRPr lang="en-US" sz="10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KONFIGURATOR: MIETEN ODER KAUFEN?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3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loesung-kost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71600"/>
            <a:ext cx="8010144" cy="246888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20/23</a:t>
            </a:r>
            <a:endParaRPr lang="en-US" sz="10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PASSENDEN LIZENZEN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4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loesung-lizenzen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651760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21/23</a:t>
            </a:r>
            <a:endParaRPr lang="en-US" sz="10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REICHT DAS BUDGET?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Station 5 · Lösung</a:t>
            </a:r>
            <a:endParaRPr lang="en-US" sz="2600" dirty="0"/>
          </a:p>
        </p:txBody>
      </p:sp>
      <p:pic>
        <p:nvPicPr>
          <p:cNvPr id="5" name="Image 0" descr="/Users/jacobmenge/Desktop/kurs-26.2b-orga/folienwerkstatt/assets/diagramme/ress-loesung-budge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6928" y="1316736"/>
            <a:ext cx="8010144" cy="2706624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Auswertung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22/23</a:t>
            </a:r>
            <a:endParaRPr lang="en-US" sz="105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66928" y="201168"/>
            <a:ext cx="475488" cy="5029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384048"/>
            <a:ext cx="801014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spc="180" kern="0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AUSBLICK</a:t>
            </a:r>
            <a:endParaRPr lang="en-US" sz="1150" dirty="0"/>
          </a:p>
        </p:txBody>
      </p:sp>
      <p:sp>
        <p:nvSpPr>
          <p:cNvPr id="4" name="Text 2"/>
          <p:cNvSpPr/>
          <p:nvPr/>
        </p:nvSpPr>
        <p:spPr>
          <a:xfrm>
            <a:off x="566928" y="731520"/>
            <a:ext cx="8010144" cy="60350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6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Bis Montag</a:t>
            </a:r>
            <a:endParaRPr lang="en-US" sz="2600" dirty="0"/>
          </a:p>
        </p:txBody>
      </p:sp>
      <p:sp>
        <p:nvSpPr>
          <p:cNvPr id="5" name="Text 3"/>
          <p:cNvSpPr/>
          <p:nvPr/>
        </p:nvSpPr>
        <p:spPr>
          <a:xfrm>
            <a:off x="566928" y="1444752"/>
            <a:ext cx="8010144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Montag geht es wieder in die Cloud: Infrastruktur als Code mit Terraform.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669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7" name="Shape 5"/>
          <p:cNvSpPr/>
          <p:nvPr/>
        </p:nvSpPr>
        <p:spPr>
          <a:xfrm>
            <a:off x="5669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8" name="Text 6"/>
          <p:cNvSpPr/>
          <p:nvPr/>
        </p:nvSpPr>
        <p:spPr>
          <a:xfrm>
            <a:off x="8046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Zum Nachlesen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8046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Die Theorie zu Ressourcen und Lizenzmodellen und weitere Aufgaben mit Musterlösung stehen auf der Kursseite.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33101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1" name="Shape 9"/>
          <p:cNvSpPr/>
          <p:nvPr/>
        </p:nvSpPr>
        <p:spPr>
          <a:xfrm>
            <a:off x="33101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2" name="Text 10"/>
          <p:cNvSpPr/>
          <p:nvPr/>
        </p:nvSpPr>
        <p:spPr>
          <a:xfrm>
            <a:off x="35478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 nehmt ihr mit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5478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Dreipunktschätzung, Aufwand gegen Dauer, Migration mit Rückfallplan, CapEx und OpEx, die Zählweisen.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053328" y="1975104"/>
            <a:ext cx="2523744" cy="1645920"/>
          </a:xfrm>
          <a:prstGeom prst="rect">
            <a:avLst/>
          </a:prstGeom>
          <a:solidFill>
            <a:srgbClr val="F5F6FC"/>
          </a:solidFill>
          <a:ln/>
        </p:spPr>
      </p:sp>
      <p:sp>
        <p:nvSpPr>
          <p:cNvPr id="15" name="Shape 13"/>
          <p:cNvSpPr/>
          <p:nvPr/>
        </p:nvSpPr>
        <p:spPr>
          <a:xfrm>
            <a:off x="6053328" y="1975104"/>
            <a:ext cx="41148" cy="1645920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6" name="Text 14"/>
          <p:cNvSpPr/>
          <p:nvPr/>
        </p:nvSpPr>
        <p:spPr>
          <a:xfrm>
            <a:off x="6291072" y="2121408"/>
            <a:ext cx="2121408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Am Montag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6291072" y="2624328"/>
            <a:ext cx="2121408" cy="87782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ct val="92000"/>
              </a:lnSpc>
              <a:buNone/>
            </a:pPr>
            <a:r>
              <a:rPr lang="en-US" sz="1100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Statt durch die Konsole zu klicken, beschreibt ihr die Server in einer Textdatei. Terraform baut sie in der AWS-Sandbox auf.</a:t>
            </a:r>
            <a:endParaRPr lang="en-US" sz="1100" dirty="0"/>
          </a:p>
        </p:txBody>
      </p:sp>
      <p:sp>
        <p:nvSpPr>
          <p:cNvPr id="18" name="Shape 16"/>
          <p:cNvSpPr/>
          <p:nvPr/>
        </p:nvSpPr>
        <p:spPr>
          <a:xfrm>
            <a:off x="566928" y="3886200"/>
            <a:ext cx="32004" cy="256032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19" name="Text 17"/>
          <p:cNvSpPr/>
          <p:nvPr/>
        </p:nvSpPr>
        <p:spPr>
          <a:xfrm>
            <a:off x="749808" y="3840480"/>
            <a:ext cx="7827264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434A63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Nächster Termin: Montag, 26. Oktober um 18:00 Uhr.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566928" y="4631436"/>
            <a:ext cx="8010144" cy="0"/>
          </a:xfrm>
          <a:prstGeom prst="line">
            <a:avLst/>
          </a:prstGeom>
          <a:noFill/>
          <a:ln w="9525">
            <a:solidFill>
              <a:srgbClr val="DFE3F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566928" y="4722876"/>
            <a:ext cx="50292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spc="30" kern="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Abschluss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8028432" y="4722876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23/23</a:t>
            </a:r>
            <a:endParaRPr lang="en-US" sz="105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5F6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5015484"/>
            <a:ext cx="9144000" cy="128016"/>
          </a:xfrm>
          <a:prstGeom prst="rect">
            <a:avLst/>
          </a:prstGeom>
          <a:solidFill>
            <a:srgbClr val="9A6310"/>
          </a:solidFill>
          <a:ln/>
        </p:spPr>
      </p:sp>
      <p:sp>
        <p:nvSpPr>
          <p:cNvPr id="3" name="Text 1"/>
          <p:cNvSpPr/>
          <p:nvPr/>
        </p:nvSpPr>
        <p:spPr>
          <a:xfrm>
            <a:off x="566928" y="1828800"/>
            <a:ext cx="8010144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200" b="1" dirty="0">
                <a:solidFill>
                  <a:srgbClr val="272E52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Erst rechnen, dann versprechen.</a:t>
            </a:r>
            <a:endParaRPr lang="en-US" sz="3200" dirty="0"/>
          </a:p>
        </p:txBody>
      </p:sp>
      <p:sp>
        <p:nvSpPr>
          <p:cNvPr id="4" name="Text 2"/>
          <p:cNvSpPr/>
          <p:nvPr/>
        </p:nvSpPr>
        <p:spPr>
          <a:xfrm>
            <a:off x="566928" y="2788920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5C6377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Übung und Theorie bleiben zum Nachlesen auf der Kursseite.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566928" y="3401568"/>
            <a:ext cx="8010144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9A631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Montag, 26. Oktober · Infrastruktur als Code mit Terraform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28</Slides>
  <Notes>28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  <vt:lpstr>Slide 27</vt:lpstr>
      <vt:lpstr>Slide 28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Ressourcen und Lizenzen</dc:title>
  <dc:subject>Abend 17 im Themenblock Planung, Konzeptionierung, Integration</dc:subject>
  <dc:creator>Jacob Menge</dc:creator>
  <cp:lastModifiedBy>Jacob Menge</cp:lastModifiedBy>
  <cp:revision>1</cp:revision>
  <dcterms:created xsi:type="dcterms:W3CDTF">2026-10-21T15:50:35Z</dcterms:created>
  <dcterms:modified xsi:type="dcterms:W3CDTF">2026-10-21T15:50:35Z</dcterms:modified>
</cp:coreProperties>
</file>