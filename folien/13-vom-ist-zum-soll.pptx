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Ist-Analyse, Anforderungen, Sollkonzept und CMDB: Voltrad plant den neuen Serverraum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12.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Euer Aufbau vom Mittwoch wird übergeben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8424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84248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Voltrad: Der Serverraum ist am Ende. Der Weg vom Ist zum Soll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 und Anforderungen: drei Quellen, messbar machen, Verfügbarkeit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7802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78024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Sollkonzept, Lastenheft und Pflichtenheft, CMDB und die Ausfallfrage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24912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2491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24912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7180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71800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ihr: der Auftrag, die Fundstücke und das Werkzeug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18688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1868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18688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Bestandsaufnahme bei Voltrad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6557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65576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712464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71246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712464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Cloud-Rennen habt ihr gebaut. Heute geht es um das, was vor dem Bauen kommt.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1/57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STICHWORTE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warmup-sz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1426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926080"/>
            <a:ext cx="7461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morgen betreut sie euren Aufbau.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muss sie wissen?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Kleiner Tipp: Denkt an alles, was ihr beim Rennen im Kopf hattet und was nirgends stand.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2/57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warmup-ueberga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9709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5137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Tags vom Rennen sagen, wer zuständig ist. Was woran hängt, stand nirgends.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3/57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aus einem alten Serverraum ein Plan wird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VOLTRAD GMBH · E-BIKE-HERSTELLER, 280 MITARBEITENDE, 120 RÄDER AM 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Serverraum ist am Ende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l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Fragen beantwortet ihr heute Abend für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SCHRITTE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vom Ist zum Soll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08176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gehen wir die Schritte 1 bis 4 durch. Die Beziehungen für die CMDB zeichnet ihr selbst.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QUELLEN, DREI BLINDE FLECKEN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drei-quell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Praxiszeit bekommt ihr Fundstücke aus allen drei Quellen.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6/57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UND WIE GUT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Anforderungen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anforderungsar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nicht-funktionalen Anforderungen entscheiden später über Architektur und Kosten.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7/57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MESSBAR MACHEN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Wunsch zur Anforderung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mess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523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2 macht ihr das mit Aussagen aus den Gesprächen bei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8/57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PROZENTZAHL BRAUCHT EINE BEZUGSZEIT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in Stunden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verfuegbark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jeder Verfügbarkeit zuerst fragen: rund um die Uhr oder nur in der Betriebszeit? Davon hängen der erlaubte Ausfall, die Wartungsfenster und die Kosten ab.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9/57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ENTSCHEIDUNG JE SYSTEM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Sollkonzept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entschei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einer Woche habt ihr die Cloud kennengelernt. Heute entscheidet ihr, was dort hingehört.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10/57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SCHREIBT WAS?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Lastenheft und Pflichtenheft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lasten-pfl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liefert die Situationsbeschreibung das Was. Ihr liefert das Wie: Konzept, Maßnahmen und Plan.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11/57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ALS EINE LISTE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CMDB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cmd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Betrieb liest eine CMDB viele dieser Angaben automatisch aus den Systemen aus.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12/57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DATENBANK MIT WEBOBERFLÄCHE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CMDB in der Praxis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cmdb-prax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bauen wir keine echte CMDB auf. Ihr zeichnet ihren Kern: die Bestandteile und ihre Beziehungen.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13/57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WOZU DIE BEZIEHUNGEN GUT SIND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Ausfallfrage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ausfall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Datenbank ist hier ein Single Point of Failure: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Bestandteil ohne Ersatz, an dem vieles hängt.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14/57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Bestandsaufnahme bei Voltrad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FUNDSTÜCKE, VIER ERGEBNISSE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Fundstücke und jede Station stehen auf der Übungsseite.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15/57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Mermaid und der Live Editor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merm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Mermaid ist heute nur der Stift. Wer lieber anders zeichnet, nimmt draw.io, Excalidraw oder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16/57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STELLEN GENÜGEN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Mermaid Live Editor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mermaid/mermaid-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572000" cy="253603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71600"/>
            <a:ext cx="4572000" cy="2536031"/>
          </a:xfrm>
          <a:prstGeom prst="rect">
            <a:avLst/>
          </a:prstGeom>
          <a:ln w="9525">
            <a:solidFill>
              <a:srgbClr val="C9CF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58384" y="1371600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dieser Zeile wird dieses Bild: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358384" y="1609344"/>
            <a:ext cx="3218688" cy="310896"/>
          </a:xfrm>
          <a:prstGeom prst="roundRect">
            <a:avLst>
              <a:gd name="adj" fmla="val 11765"/>
            </a:avLst>
          </a:prstGeom>
          <a:solidFill>
            <a:srgbClr val="0F1B2A"/>
          </a:solidFill>
          <a:ln w="12700">
            <a:solidFill>
              <a:srgbClr val="0F1B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49824" y="160934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 --&gt;|holt Aufträge von| ERPAPP</a:t>
            </a:r>
            <a:endParaRPr lang="en-US" sz="1000" dirty="0"/>
          </a:p>
        </p:txBody>
      </p:sp>
      <p:pic>
        <p:nvPicPr>
          <p:cNvPr id="10" name="Image 1" descr="/Users/jacobmenge/Desktop/kurs-26.2b-orga/folienwerkstatt/assets/diagramme/soll-ze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993392"/>
            <a:ext cx="3218688" cy="365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358384" y="2432304"/>
            <a:ext cx="246888" cy="246888"/>
          </a:xfrm>
          <a:prstGeom prst="ellipse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358384" y="243230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733288" y="2450592"/>
            <a:ext cx="2843784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 Code steht der Text. Ab Zeile 2 ist jede Zeile eine Beziehung.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358384" y="2930652"/>
            <a:ext cx="246888" cy="246888"/>
          </a:xfrm>
          <a:prstGeom prst="ellipse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58384" y="29306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733288" y="2948940"/>
            <a:ext cx="284378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Rechts zeichnet der Editor sofort mit.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358384" y="3252978"/>
            <a:ext cx="246888" cy="246888"/>
          </a:xfrm>
          <a:prstGeom prst="ellipse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358384" y="325297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733288" y="3271266"/>
            <a:ext cx="2843784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öffnet den Link zum Teilen. Der ganze Graph steckt im Link.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1" name="Text 17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Tippfehler? Das Bild wird grau, unter dem Code steht Syntax error mit der Zeile. Save diagram und AI Repair braucht ihr nicht, beide verlangen ein Konto.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17/57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20:30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54480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5448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54480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 A plus ein Fundstück je Person, zum Vergleichen · 10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80136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801368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steht da wirklich? Gleichzeitig vergleichen, dann zusammenlegen · 20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048256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048256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048256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wird gebraucht? Anforderungen messbar machen, Verfügbarkeit rechnen · 15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29514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295144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soll es aussehen? Je System entscheiden · 10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542032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54203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542032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hängt woran? Den Graphen erweitern, die Ausfallfrage beantworten · 20 Min.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78892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64208" y="2788920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Rechner als CI, Verfügbarkeit in der Kette, Speicher der Dateiablage, der Fahrplan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108960"/>
            <a:ext cx="973836" cy="201168"/>
          </a:xfrm>
          <a:prstGeom prst="rect">
            <a:avLst/>
          </a:prstGeom>
          <a:solidFill>
            <a:srgbClr val="5C6377"/>
          </a:solidFill>
          <a:ln w="12700">
            <a:solidFill>
              <a:srgbClr val="5C6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08960"/>
            <a:ext cx="9738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68196" y="3108960"/>
            <a:ext cx="1975104" cy="201168"/>
          </a:xfrm>
          <a:prstGeom prst="rect">
            <a:avLst/>
          </a:prstGeom>
          <a:solidFill>
            <a:srgbClr val="3843AF"/>
          </a:solidFill>
          <a:ln w="12700">
            <a:solidFill>
              <a:srgbClr val="3843A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3108960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70732" y="3108960"/>
            <a:ext cx="1474470" cy="201168"/>
          </a:xfrm>
          <a:prstGeom prst="rect">
            <a:avLst/>
          </a:prstGeom>
          <a:solidFill>
            <a:srgbClr val="0F7C86"/>
          </a:solidFill>
          <a:ln w="12700">
            <a:solidFill>
              <a:srgbClr val="0F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70732" y="3108960"/>
            <a:ext cx="14744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2634" y="3108960"/>
            <a:ext cx="973836" cy="201168"/>
          </a:xfrm>
          <a:prstGeom prst="rect">
            <a:avLst/>
          </a:prstGeom>
          <a:solidFill>
            <a:srgbClr val="9A6310"/>
          </a:solidFill>
          <a:ln w="12700">
            <a:solidFill>
              <a:srgbClr val="9A631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2634" y="3108960"/>
            <a:ext cx="9738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73902" y="3108960"/>
            <a:ext cx="1975104" cy="201168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73902" y="3108960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76438" y="3108960"/>
            <a:ext cx="473202" cy="201168"/>
          </a:xfrm>
          <a:prstGeom prst="rect">
            <a:avLst/>
          </a:prstGeom>
          <a:solidFill>
            <a:srgbClr val="DFE3F0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76438" y="3108960"/>
            <a:ext cx="4732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Puffer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401568"/>
            <a:ext cx="8010144" cy="1042416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3401568"/>
            <a:ext cx="41148" cy="104241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3547872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4672" y="3835654"/>
            <a:ext cx="7607808" cy="489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jacobmenge.github.io/kurs-unterlagen/infrastruktur-planung/praxis-bestandsaufnahme/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jacobmenge.github.io/kurs-unterlagen/infrastruktur-planung/anforderungen-und-sollkonzept/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18/57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Person öffnet die Übungsseite selbst und vergleicht die Liste mit einem Fundstück. Dann legt ihr zusammen.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Person teilt den Bildschirm. Eine zweite führt den Ergebniszettel von der Übungsseite.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einigen, dann aufklappen: Die Musterlösung ist zum Vergleichen da.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vielen Fragen gibt es mehrere gute Antworten. Es zählt eure Begründung.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der Hinweis auf der Übungsseite, dann fragen. Ich schaue reihum vorbei.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20:30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mit: eure drei dringendsten Befunde, die Zahl der E-Bikes bei 99,5 % und den Link zu eurem Graphen.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19/57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MINUTEN, ALLE ZUSAMMEN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64208" y="1700784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Befunde habt ihr gefunden? Welcher ist der gefährlichste und warum?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848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64208" y="2084832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Anforderung an den Konfigurator: Welche Zahl, welcher Bezug, welches Messverfahren?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688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64208" y="2468880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99,5 % für das Fertigungsleitsystem: Wie viele Stunden, wie viele E-Bikes? Was fehlt der Zahl?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8529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64208" y="2852928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 neue Server? Was bleibt im Werk, was geht in die Cloud, was wird abgeschaltet?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2369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369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64208" y="3236976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Serverraum fällt 20 Minuten der Strom aus: Was steht alles? Ein Team zeigt seinen Graphen.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621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64208" y="3621024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Dateiablage fast voll, dazu das NAS der Konstruktion: Wie viel Speicher braucht Voltrad?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letzte Frage bleibt heute offen. Mit ihr steigen wir am Mittwoch ein.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20/57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AECEC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Bestandsaufnahme bei Voltrad, Station für Station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steht da wirklich?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hattet vier Fundstücke: die alte Inventarliste (A), den Rundgang (B), Messwerte (C) und Gespräche (D).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01168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Vergleicht die Liste A Zeile für Zeile mit B, C und D. Wo stimmt sie nicht, wo fehlt etwas?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3591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35915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Notiert jeden Fund: Was sagt die Liste? Was stimmt wirklich? Welches Fundstück belegt das?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70662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0662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70662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Findet mindestens sechs von neun Befunden.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054096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Wählt die drei Befunde, die ihr zuerst angehen würdet, und begründet sie.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den nächsten Folien gehen wir die neun Befunde einzeln durch.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21/57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ZUM NACHSCHLAGEN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Kürzel im Lageplan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kuerz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Namen tauchen auf den nächsten Folien immer wieder auf.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22/57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Bestand laut Rundgang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rundg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852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haben wir gesehen. Jetzt legen wir die Liste daneben, Befund für Befund.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23/57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1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neuntes Gerät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24/57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2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TEST-01 läuft nicht mehr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3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Broker ist umgezogen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26/57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4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Datenbank ist älter als gedacht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27/57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5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betreut WEB-01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28/57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6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Dateiablage ist fast voll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29/57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7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Strom und Netz fehlen in der Liste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30/57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8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ist zuständig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31/57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9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Sicherung ist nie geprüft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32/57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LESEN: LISTE UND LAGE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Dokumente sagen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dokum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7315200" cy="27891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Liste liefert Behauptungen (grau). Den Beleg liefern die anderen Quellen.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33/57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MESSEN: SELBST NACHSEHEN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Rundgang zeigt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rundg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596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Rundgang findet, was wirklich da ist. Wie wichtig es ist, sagt er nicht.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34/57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MESSEN: AUSLESEN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Messwerte zeigen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messwe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7315200" cy="27891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Messwerte sind genau. Sie sagen aber nicht, welches System für den Betrieb wichtig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35/57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FRAGEN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Gespräche verraten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gespraec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596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Gespräche erklären, warum etwas so ist und wie wichtig es ist. Achtet aber auf „glaube ich“.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36/57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ZUSAMMENFASSUNG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neun Befunde auf einen Blick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lage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7406640" cy="2976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37/57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DIE DRINGENDSTEN BEFUNDE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zuerst?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drin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38/57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A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Sortieren: Was ist eine Anforderung?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Ordnet jede Aussage ein: funktional (was es tun soll), nicht-funktional (wie gut), Rahmenbedingung (steht schon fest) oder keine Anforderung.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03120"/>
            <a:ext cx="8266176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0312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103120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„Händler können im Portal rund um die Uhr Bestellungen aufgeben.“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40487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2404872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darf im Frühjahr nie wieder ausfallen.“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706624"/>
            <a:ext cx="8266176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06624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706624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Fertigung muss auch laufen, wenn das Internet weg ist.“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00837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008376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„Wir kaufen einfach acht neue Server.“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310128"/>
            <a:ext cx="8266176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1012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310128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IT besteht aus zwei Personen. Nachts und am Wochenende ist niemand da.“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61188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611880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Fertigungsleitsystem zeigt jedem Montageplatz den nächsten Auftrag.“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39/57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Sechs Aussagen, vier Fächer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sorti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40/57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B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Messbar machen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die Aussagen so um, dass man sie am Ende abhaken kann: mit Zahl und Einheit, Bezug und Messverfahren.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01168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darf im Frühjahr nie wieder ausfallen.“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3591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35915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Händlerportal muss schnell sein.“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70662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0662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70662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„Wenn Daten von einem ganzen Tag verloren gehen, ist das eine Katastrophe.“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41/57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B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Wünschen werden Anforderungen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mess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70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42/57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C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Fertigungsleitsystem steht „99,5 % Verfügbarkeit“ im Raum. Die Fertigung läuft montags bis freitags von 6 bis 22 Uhr und baut 120 E-Bikes am Tag.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945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19456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Stunden im Jahr läuft die Fertigung? Rechnet mit 52 Wochen.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420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54203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Stunden Ausfall erlaubt 99,5 %, bezogen auf diese Betriebszeit?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88950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895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88950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E-Bikes werden in dieser Zeit nicht gebaut?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2369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236976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zehn Minuten stehen die Bänder. Reicht die Zahl 99,5 % als Anforderung? Was fehlt?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43/57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99,5 % für die Fertigung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verfuegbark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44/57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A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jedem System?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Entscheidet für jedes System und begründet mit einer Anforderung: im Werk erneuern, in die Cloud, als fertigen Dienst mieten (SaaS) oder abschalten.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945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194560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Fertigungsleitsystem, MQTT-Broker der Prüfstände, Warenwirtschaft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054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505456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Dateien: die Dateiablage FILE-01 und das NAS der Konstruktion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816352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163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816352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Konfigurator und Händlerportal, Anmeldung und Druck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1272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127248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Datensicherung und das Testsystem TEST-01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43814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4381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438144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Schluss: Wie viele Server muss Voltrad noch selbst kaufen?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45/57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Sollkonzept für Voltrad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so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61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46/57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B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Lastenheft oder Pflichtenheft?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Lastenheft schreibt der Auftraggeber: Was wird gebraucht? Das Pflichtenheft der Auftragnehmer: Wie wird es umgesetzt? Wohin gehört jeder Satz?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945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19456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muss im Frühjahr viermal so viele Besucher bedienen wie im übrigen Jahr.“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5420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254203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läuft auf mindestens zwei Servern an zwei Standorten, ein Lastverteiler verteilt.“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88950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895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88950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„Bei einem Ausfall der Warenwirtschaft gehen höchstens 60 Minuten Buchungen verloren.“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2369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236976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Datenbank wird stündlich gesichert. Eine Kopie liegt außerhalb des Werks.“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47/57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B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Lastenheft oder Pflichtenheft?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lasten-pfl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8010144" cy="23957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48/57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hängt woran?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im Mermaid Live Editor festgehalten, welches System welches andere braucht. Der Pfeil heißt immer: braucht.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03120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031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103120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Startgraphen um Strom (USV), Hosts, Büro und Internet erweitern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41401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414016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Strom im Serverraum 20 Minuten weg, die USV hält 4 Minuten: Was steht?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724912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24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724912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VH-01 fällt aus: Was steht? Können sich alle noch anmelden?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035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035808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Internetleitung fällt aus: Läuft die Fertigung weiter?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3467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467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346704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schwachen Stellen rot markieren: Was hat keinen Ersatz?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der fertige Graph mit a und e, dann die drei Ausfälle b bis 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49/57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DER FERTIGE GRAPH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hängt woran?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2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50/57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TEIL 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Ausfälle, am Graphen abgelesen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ausfae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51/57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ZUSAMMENFASSUNG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mitnehmt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merksaet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 Kette kommt in der Prüfung: Bestand aufnehmen, Problemfelder benennen, ein Konzept begründen.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52/57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SITUATION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Lage: Brauerei Lindenhof GmbH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neu in der IT einer mittelständischen Brauerei. Lest die Lage, dann folgen die Aufgaben.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05740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Mitarbeitende, eine Abfüllanlage im Zwei-Schicht-Betrieb und ein Webshop für Getränkekisten.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einzige Administrator hat gekündigt. Übrig ist eine Excel-Liste mit Servern, Stand vor zwei Jahren.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Geschäftsführung sagt: „Der Webshop muss immer schnell und verfügbar sein.“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sollt eine Ist-Analyse erstellen und daraus ein Sollkonzept ableiten.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Bearbeitungszeit: 20 Minuten, allein oder zu zweit, schriftlich.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53/57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20 PUNKTE,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Aufgaben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83080"/>
            <a:ext cx="8266176" cy="4754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8308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P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252728" y="1783080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Nennen Sie drei Quellen für die Ist-Analyse und je eine Schwäche dieser Quelle.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258568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52728" y="2258568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Formulieren Sie aus dem Satz der Geschäftsführung zwei messbare nicht-funktionale Anforderungen.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734056"/>
            <a:ext cx="8266176" cy="4754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7340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52728" y="2734056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Webshop soll rund um die Uhr zu 99,8 % verfügbar sein. Berechnen Sie den erlaubten Ausfall pro Jahr in Stunden.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20954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252728" y="3209544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Erläutern Sie an einem Beispiel aus der Brauerei, warum eine CMDB auch die Beziehungen zwischen den Configuration Items speichert.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 der Prüfung: etwa eine Minute und ein Gedanke je Punkt.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54/57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AUFGABE 1 UND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Lösung: Quellen und Anforderungen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46504"/>
            <a:ext cx="34930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1 (je 1 P Quelle, 1 P Schwäche)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48916"/>
            <a:ext cx="3493008" cy="1747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Dokumente, zum Beispiel die Excel-Liste: veraltet, niemand hat sie gepflegt.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Messen, Rundgang und Monitoring: zeigt nicht, wie wichtig ein System ist.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Gespräche mit den Abteilungen: ungenau, oft schon Lösungswünsche statt Bedarf.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817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46504"/>
            <a:ext cx="34930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2 (je 3 P: Zahl, Bezug, Messverfahren)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248916"/>
            <a:ext cx="3493008" cy="1747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Webshop ist rund um die Uhr zu mindestens 99,8 % im Monat erreichbar, geprüft durch einen Abruf von außen jede Minute.“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Startseite lädt bei 300 gleichzeitigen Besuchern in höchstens 2 Sekunden, geprüft per Lasttest.“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55/57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AUFGABE 3 UND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Lösung: Verfügbarkeit und CMDB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46504"/>
            <a:ext cx="3493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3 (3 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03704"/>
            <a:ext cx="34930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Bezugszeit rund um die Uhr: 365 × 24 = 8.760 Stunden.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Erlaubter Ausfall: 8.760 × 0,2 % = 17,52 Stunden im Jahr.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für Bezugszeit, Rechenweg und Ergebnis.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817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46504"/>
            <a:ext cx="3493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4 (5 P)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203704"/>
            <a:ext cx="34930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Liste kennt nur einzelne Einträge. Die CMDB speichert, was wovon abhängt.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Beispiel: Webshop braucht Datenbank, Datenbank läuft auf Host, Host hängt an der USV.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Fällt der Host aus, zeigt die CMDB sofort, dass auch der Webshop steht. So lassen sich Ausfälle und Änderungen bewerten.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56/57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Nächstes planen wir den Speicher für das neue Konzept: wie viel, wie sicher, wie angebunden.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Übung, die Theorie zu Anforderungen und Sollkonzept und acht weitere Aufgaben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braucht ihr von heute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Entscheidung je System, vor allem: Was bleibt im Werk und braucht dort Speicher?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Nächstes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 braucht Voltrad, wie sicher und wie angebunden? Danach folgen Ressourcen und Lizenzen.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14.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57/57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der Bestand, dann der Plan.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14. Oktober · Speicher planen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Vom Ist zum Soll</dc:title>
  <dc:subject>Abend 14 im Themenblock Planung, Konzeptionierung, Integration</dc:subject>
  <dc:creator>Jacob Menge</dc:creator>
  <cp:lastModifiedBy>Jacob Menge</cp:lastModifiedBy>
  <cp:revision>1</cp:revision>
  <dcterms:created xsi:type="dcterms:W3CDTF">2026-10-14T15:28:40Z</dcterms:created>
  <dcterms:modified xsi:type="dcterms:W3CDTF">2026-10-14T15:28:40Z</dcterms:modified>
</cp:coreProperties>
</file>