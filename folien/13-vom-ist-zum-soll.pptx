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notesMasterIdLst>
    <p:notesMasterId r:id="rId6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notesMaster" Target="notesMasters/notesMaster1.xml"/><Relationship Id="rId65" Type="http://schemas.openxmlformats.org/officeDocument/2006/relationships/presProps" Target="presProps.xml"/><Relationship Id="rId66" Type="http://schemas.openxmlformats.org/officeDocument/2006/relationships/viewProps" Target="viewProps.xml"/><Relationship Id="rId67" Type="http://schemas.openxmlformats.org/officeDocument/2006/relationships/theme" Target="theme/theme1.xml"/><Relationship Id="rId6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cobmenge/Desktop/kurs-26.2b-orga/folienwerkstatt/assets/icons/cloudheld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365760"/>
            <a:ext cx="868680" cy="868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1280160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1 · ABEND 14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914400" y="1682496"/>
            <a:ext cx="7635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Vom Ist zum Soll</a:t>
            </a:r>
            <a:endParaRPr lang="en-US" sz="4200" dirty="0"/>
          </a:p>
        </p:txBody>
      </p:sp>
      <p:sp>
        <p:nvSpPr>
          <p:cNvPr id="6" name="Text 3"/>
          <p:cNvSpPr/>
          <p:nvPr/>
        </p:nvSpPr>
        <p:spPr>
          <a:xfrm>
            <a:off x="914400" y="2761488"/>
            <a:ext cx="7635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Ist-Analyse, Anforderungen, Sollkonzept und CMDB: Voltrad plant den neuen Serverraum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914400" y="3986784"/>
            <a:ext cx="18288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078224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Montag, 12. Oktober 2026 · 18:00 bis 21:00 Uhr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ABLAUF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uns heute Abend erwartet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37360"/>
            <a:ext cx="8266176" cy="24688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37360"/>
            <a:ext cx="1005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18:00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572768" y="1737360"/>
            <a:ext cx="70043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Warmup: Euer Aufbau vom Mittwoch wird übergeben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66928" y="1984248"/>
            <a:ext cx="1005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18:10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572768" y="1984248"/>
            <a:ext cx="70043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Voltrad: Der Serverraum ist am Ende. Der Weg vom Ist zum Soll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8912" y="2231136"/>
            <a:ext cx="8266176" cy="24688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231136"/>
            <a:ext cx="1005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18:20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572768" y="2231136"/>
            <a:ext cx="70043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Ist-Analyse und Anforderungen: drei Quellen, messbar machen, Verfügbarkeit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66928" y="2478024"/>
            <a:ext cx="1005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18:35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572768" y="2478024"/>
            <a:ext cx="70043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Sollkonzept, Lastenheft und Pflichtenheft, CMDB und die Ausfallfrage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8912" y="2724912"/>
            <a:ext cx="8266176" cy="24688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2724912"/>
            <a:ext cx="1005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18:50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572768" y="2724912"/>
            <a:ext cx="70043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66928" y="2971800"/>
            <a:ext cx="1005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19:00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572768" y="2971800"/>
            <a:ext cx="70043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baut ihr: der Auftrag, die Fundstücke und das Werkzeug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38912" y="3218688"/>
            <a:ext cx="8266176" cy="24688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3218688"/>
            <a:ext cx="1005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19:10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572768" y="3218688"/>
            <a:ext cx="70043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Praxiszeit in Breakouts: Bestandsaufnahme bei Voltrad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66928" y="3465576"/>
            <a:ext cx="1005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20:30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572768" y="3465576"/>
            <a:ext cx="70043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38912" y="3712464"/>
            <a:ext cx="8266176" cy="24688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" y="3712464"/>
            <a:ext cx="1005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20:50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1572768" y="3712464"/>
            <a:ext cx="70043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 auf Mittwoch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66928" y="420624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9" name="Text 27"/>
          <p:cNvSpPr/>
          <p:nvPr/>
        </p:nvSpPr>
        <p:spPr>
          <a:xfrm>
            <a:off x="749808" y="416052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Beim Cloud-Rennen habt ihr gebaut. Heute geht es um das, was vor dem Bauen kommt.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1/57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STICHWORTE IN DEN CHAT, 60 SEKUNDEN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Warmup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soll-warmup-sze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8010144" cy="142646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41248" y="2926080"/>
            <a:ext cx="74615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morgen betreut sie euren Aufbau.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muss sie wissen?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Kleiner Tipp: Denkt an alles, was ihr beim Rennen im Kopf hattet und was nirgends stand.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2/57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Warmup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soll-warmup-uebergab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8010144" cy="26151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97096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51376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Tags vom Rennen sagen, wer zuständig ist. Was woran hängt, stand nirgends.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3/57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Vom Ist zum Soll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aus einem alten Serverraum ein Plan wird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VOLTRAD GMBH · E-BIKE-HERSTELLER, 280 MITARBEITENDE, 120 RÄDER AM TAG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Serverraum ist am Ende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soll-l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8010144" cy="2706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233672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87952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Diese drei Fragen beantwortet ihr heute Abend für Voltrad.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Vom Ist zum Soll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4/57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FÜNF SCHRITTE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vom Ist zum Soll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soll-we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08176"/>
            <a:ext cx="8010144" cy="24688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gehen wir die Schritte 1 bis 4 durch. Die Beziehungen für die CMDB zeichnet ihr selbst.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Vom Ist zum Soll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5/57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QUELLEN, DREI BLINDE FLECKEN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Ist-Analyse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soll-drei-quell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8010144" cy="2743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25196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2062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der Praxiszeit bekommt ihr Fundstücke aus allen drei Quellen.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Vom Ist zum Soll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6/57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UND WIE GUT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Anforderungen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soll-anforderungsart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53312"/>
            <a:ext cx="8010144" cy="26517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215384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69664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nicht-funktionalen Anforderungen entscheiden später über Architektur und Kosten.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Vom Ist zum Soll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7/57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MESSBAR MACHEN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Vom Wunsch zur Anforderung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soll-mess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53312"/>
            <a:ext cx="8010144" cy="252374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Station 2 macht ihr das mit Aussagen aus den Gesprächen bei Voltrad.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Vom Ist zum Soll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8/57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PROZENTZAHL BRAUCHT EINE BEZUGSZEIT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Verfügbarkeit in Stunden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soll-verfuegbarke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8010144" cy="26151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23944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78224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 jeder Verfügbarkeit zuerst fragen: rund um die Uhr oder nur in der Betriebszeit? Davon hängen der erlaubte Ausfall, die Wartungsfenster und die Kosten ab.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Vom Ist zum Soll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9/57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ENTSCHEIDUNG JE SYSTEM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Sollkonzept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soll-entscheidu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53312"/>
            <a:ext cx="8010144" cy="26151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78808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33088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 einer Woche habt ihr die Cloud kennengelernt. Heute entscheidet ihr, was dort hingehört.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Vom Ist zum Soll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10/57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SCHREIBT WAS?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Lastenheft und Pflichtenheft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soll-lasten-pflic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89888"/>
            <a:ext cx="8010144" cy="24505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05656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59936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der Prüfung liefert die Situationsbeschreibung das Was. Ihr liefert das Wie: Konzept, Maßnahmen und Plan.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Vom Ist zum Soll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11/57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MEHR ALS EINE LISTE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CMDB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soll-cmd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8010144" cy="2743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25196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2062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 Betrieb liest eine CMDB viele dieser Angaben automatisch aus den Systemen aus.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Vom Ist zum Soll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12/57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DATENBANK MIT WEBOBERFLÄCHE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CMDB in der Praxis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soll-cmdb-prax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8010144" cy="2706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bauen wir keine echte CMDB auf. Ihr zeichnet ihren Kern: die Bestandteile und ihre Beziehungen.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Vom Ist zum Soll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13/57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WOZU DIE BEZIEHUNGEN GUT SIND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Ausfallfrage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soll-ausfallf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8010144" cy="26517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23944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78224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Datenbank ist hier ein Single Point of Failure: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Bestandteil ohne Ersatz, an dem vieles hängt.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Vom Ist zum Soll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14/57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6F4F5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baut ihr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Bestandsaufnahme bei Voltrad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VIER FUNDSTÜCKE, VIER ERGEBNISSE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Euer Auftrag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soll-auftr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8010144" cy="2706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233672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87952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 Fundstücke und jede Station stehen auf der Übungsseite.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baut ihr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15/57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 VORGESTELLT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Mermaid und der Live Editor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steckbrief-mermai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8010144" cy="24688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Mermaid ist heute nur der Stift. Wer lieber anders zeichnet, nimmt draw.io, Excalidraw oder Papier.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baut ihr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16/57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STELLEN GENÜGEN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Mermaid Live Editor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mermaid/mermaid-edi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4572000" cy="2536031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371600"/>
            <a:ext cx="4572000" cy="2536031"/>
          </a:xfrm>
          <a:prstGeom prst="rect">
            <a:avLst/>
          </a:prstGeom>
          <a:ln w="9525">
            <a:solidFill>
              <a:srgbClr val="C9CFD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358384" y="1371600"/>
            <a:ext cx="3218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 dieser Zeile wird dieses Bild: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358384" y="1609344"/>
            <a:ext cx="3218688" cy="310896"/>
          </a:xfrm>
          <a:prstGeom prst="rect">
            <a:avLst/>
          </a:prstGeom>
          <a:solidFill>
            <a:srgbClr val="0F1B2A"/>
          </a:solidFill>
          <a:ln/>
        </p:spPr>
        <p:txBody>
          <a:bodyPr wrap="square" lIns="0" tIns="88900" rIns="8890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7F0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 --&gt;|holt Aufträge von| ERPAPP</a:t>
            </a:r>
            <a:endParaRPr lang="en-US" sz="1000" dirty="0"/>
          </a:p>
        </p:txBody>
      </p:sp>
      <p:pic>
        <p:nvPicPr>
          <p:cNvPr id="9" name="Image 1" descr="/Users/jacobmenge/Desktop/kurs-26.2b-orga/folienwerkstatt/assets/diagramme/soll-zei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8384" y="1993392"/>
            <a:ext cx="3218688" cy="36576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358384" y="2432304"/>
            <a:ext cx="246888" cy="246888"/>
          </a:xfrm>
          <a:prstGeom prst="ellipse">
            <a:avLst/>
          </a:prstGeom>
          <a:solidFill>
            <a:srgbClr val="B33A3A"/>
          </a:solidFill>
          <a:ln w="12700">
            <a:solidFill>
              <a:srgbClr val="B33A3A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358384" y="2432304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5733288" y="2450592"/>
            <a:ext cx="2843784" cy="4434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Unter Code steht der Text. Ab Zeile 2 ist jede Zeile eine Beziehung.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5358384" y="2930652"/>
            <a:ext cx="246888" cy="246888"/>
          </a:xfrm>
          <a:prstGeom prst="ellipse">
            <a:avLst/>
          </a:prstGeom>
          <a:solidFill>
            <a:srgbClr val="B33A3A"/>
          </a:solidFill>
          <a:ln w="12700">
            <a:solidFill>
              <a:srgbClr val="B33A3A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5358384" y="2930652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5733288" y="2948940"/>
            <a:ext cx="2843784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Rechts zeichnet der Editor sofort mit.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5358384" y="3252978"/>
            <a:ext cx="246888" cy="246888"/>
          </a:xfrm>
          <a:prstGeom prst="ellipse">
            <a:avLst/>
          </a:prstGeom>
          <a:solidFill>
            <a:srgbClr val="B33A3A"/>
          </a:solidFill>
          <a:ln w="12700">
            <a:solidFill>
              <a:srgbClr val="B33A3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5358384" y="3252978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5733288" y="3271266"/>
            <a:ext cx="2843784" cy="4434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öffnet den Link zum Teilen. Der ganze Graph steckt im Link.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566928" y="4105656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20" name="Text 16"/>
          <p:cNvSpPr/>
          <p:nvPr/>
        </p:nvSpPr>
        <p:spPr>
          <a:xfrm>
            <a:off x="749808" y="4059936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Tippfehler? Das Bild wird grau, unter dem Code steht Syntax error mit der Zeile. Save diagram und AI Repair braucht ihr nicht, beide verlangen ein Konto.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baut ihr</a:t>
            </a:r>
            <a:endParaRPr lang="en-US" sz="1050" dirty="0"/>
          </a:p>
        </p:txBody>
      </p:sp>
      <p:sp>
        <p:nvSpPr>
          <p:cNvPr id="23" name="Text 1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17/57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 · 19:10 BIS 20:30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läuft die Praxiszeit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554480"/>
            <a:ext cx="8266176" cy="24688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554480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664208" y="1554480"/>
            <a:ext cx="691286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Liste A plus ein Fundstück je Person, zum Vergleichen · 10 Min.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66928" y="1801368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Station 1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664208" y="1801368"/>
            <a:ext cx="691286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steht da wirklich? Gleichzeitig vergleichen, dann zusammenlegen · 20 Min.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8912" y="2048256"/>
            <a:ext cx="8266176" cy="24688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048256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Station 2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664208" y="2048256"/>
            <a:ext cx="691286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wird gebraucht? Anforderungen messbar machen, Verfügbarkeit rechnen · 15 Min.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66928" y="2295144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Station 3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664208" y="2295144"/>
            <a:ext cx="691286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soll es aussehen? Je System entscheiden · 10 Min.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8912" y="2542032"/>
            <a:ext cx="8266176" cy="24688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2542032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Station 4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664208" y="2542032"/>
            <a:ext cx="691286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hängt woran? Den Graphen erweitern, die Ausfallfrage beantworten · 20 Min.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66928" y="2788920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Bonus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664208" y="2788920"/>
            <a:ext cx="691286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Euer Rechner als CI, Verfügbarkeit in der Kette, Speicher der Dateiablage, der Fahrplan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3108960"/>
            <a:ext cx="973836" cy="201168"/>
          </a:xfrm>
          <a:prstGeom prst="rect">
            <a:avLst/>
          </a:prstGeom>
          <a:solidFill>
            <a:srgbClr val="5C6377"/>
          </a:solidFill>
          <a:ln w="12700">
            <a:solidFill>
              <a:srgbClr val="5C637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108960"/>
            <a:ext cx="9738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1568196" y="3108960"/>
            <a:ext cx="1975104" cy="201168"/>
          </a:xfrm>
          <a:prstGeom prst="rect">
            <a:avLst/>
          </a:prstGeom>
          <a:solidFill>
            <a:srgbClr val="3843AF"/>
          </a:solidFill>
          <a:ln w="12700">
            <a:solidFill>
              <a:srgbClr val="3843A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568196" y="3108960"/>
            <a:ext cx="19751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570732" y="3108960"/>
            <a:ext cx="1474470" cy="201168"/>
          </a:xfrm>
          <a:prstGeom prst="rect">
            <a:avLst/>
          </a:prstGeom>
          <a:solidFill>
            <a:srgbClr val="0F7C86"/>
          </a:solidFill>
          <a:ln w="12700">
            <a:solidFill>
              <a:srgbClr val="0F7C8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570732" y="3108960"/>
            <a:ext cx="147447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072634" y="3108960"/>
            <a:ext cx="973836" cy="201168"/>
          </a:xfrm>
          <a:prstGeom prst="rect">
            <a:avLst/>
          </a:prstGeom>
          <a:solidFill>
            <a:srgbClr val="9A6310"/>
          </a:solidFill>
          <a:ln w="12700">
            <a:solidFill>
              <a:srgbClr val="9A631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72634" y="3108960"/>
            <a:ext cx="9738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3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73902" y="3108960"/>
            <a:ext cx="1975104" cy="201168"/>
          </a:xfrm>
          <a:prstGeom prst="rect">
            <a:avLst/>
          </a:prstGeom>
          <a:solidFill>
            <a:srgbClr val="B33A3A"/>
          </a:solidFill>
          <a:ln w="12700">
            <a:solidFill>
              <a:srgbClr val="B33A3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73902" y="3108960"/>
            <a:ext cx="19751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4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076438" y="3108960"/>
            <a:ext cx="473202" cy="201168"/>
          </a:xfrm>
          <a:prstGeom prst="rect">
            <a:avLst/>
          </a:prstGeom>
          <a:solidFill>
            <a:srgbClr val="DFE3F0"/>
          </a:solidFill>
          <a:ln w="12700">
            <a:solidFill>
              <a:srgbClr val="DFE3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076438" y="3108960"/>
            <a:ext cx="4732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Puffer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66928" y="3401568"/>
            <a:ext cx="8010144" cy="1042416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3" name="Shape 31"/>
          <p:cNvSpPr/>
          <p:nvPr/>
        </p:nvSpPr>
        <p:spPr>
          <a:xfrm>
            <a:off x="566928" y="3401568"/>
            <a:ext cx="41148" cy="1042416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4" name="Text 32"/>
          <p:cNvSpPr/>
          <p:nvPr/>
        </p:nvSpPr>
        <p:spPr>
          <a:xfrm>
            <a:off x="804672" y="3547872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öffnen, alles steht auf der Kursseite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804672" y="3835654"/>
            <a:ext cx="7607808" cy="4894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Übung:  jacobmenge.github.io/kurs-unterlagen/infrastruktur-planung/praxis-bestandsaufnahme/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Theorie:  jacobmenge.github.io/kurs-unterlagen/infrastruktur-planung/anforderungen-und-sollkonzept/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baut ihr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18/57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SPIELREGELN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arbeitet ihr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80101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00000"/>
              </a:lnSpc>
              <a:spcAft>
                <a:spcPts val="900"/>
              </a:spcAft>
              <a:buClr>
                <a:srgbClr val="3843AF"/>
              </a:buClr>
              <a:buSzPct val="100000"/>
              <a:buChar char="▸"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Person öffnet die Übungsseite selbst und vergleicht die Liste mit einem Fundstück. Dann legt ihr zusammen.</a:t>
            </a:r>
            <a:endParaRPr lang="en-US" sz="1200" dirty="0"/>
          </a:p>
          <a:p>
            <a:pPr marL="254000" indent="-254000">
              <a:lnSpc>
                <a:spcPct val="100000"/>
              </a:lnSpc>
              <a:spcAft>
                <a:spcPts val="900"/>
              </a:spcAft>
              <a:buClr>
                <a:srgbClr val="3843AF"/>
              </a:buClr>
              <a:buSzPct val="100000"/>
              <a:buChar char="▸"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Person teilt den Bildschirm. Eine zweite führt den Ergebniszettel von der Übungsseite.</a:t>
            </a:r>
            <a:endParaRPr lang="en-US" sz="1200" dirty="0"/>
          </a:p>
          <a:p>
            <a:pPr marL="254000" indent="-254000">
              <a:lnSpc>
                <a:spcPct val="100000"/>
              </a:lnSpc>
              <a:spcAft>
                <a:spcPts val="900"/>
              </a:spcAft>
              <a:buClr>
                <a:srgbClr val="3843AF"/>
              </a:buClr>
              <a:buSzPct val="100000"/>
              <a:buChar char="▸"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Erst einigen, dann aufklappen: Die Musterlösung ist zum Vergleichen da.</a:t>
            </a:r>
            <a:endParaRPr lang="en-US" sz="1200" dirty="0"/>
          </a:p>
          <a:p>
            <a:pPr marL="254000" indent="-254000">
              <a:lnSpc>
                <a:spcPct val="100000"/>
              </a:lnSpc>
              <a:spcAft>
                <a:spcPts val="900"/>
              </a:spcAft>
              <a:buClr>
                <a:srgbClr val="3843AF"/>
              </a:buClr>
              <a:buSzPct val="100000"/>
              <a:buChar char="▸"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 vielen Fragen gibt es mehrere gute Antworten. Es zählt eure Begründung.</a:t>
            </a:r>
            <a:endParaRPr lang="en-US" sz="1200" dirty="0"/>
          </a:p>
          <a:p>
            <a:pPr marL="254000" indent="-254000">
              <a:lnSpc>
                <a:spcPct val="100000"/>
              </a:lnSpc>
              <a:spcAft>
                <a:spcPts val="900"/>
              </a:spcAft>
              <a:buClr>
                <a:srgbClr val="3843AF"/>
              </a:buClr>
              <a:buSzPct val="100000"/>
              <a:buChar char="▸"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es klemmt: erst der Hinweis auf der Übungsseite, dann fragen. Ich schaue reihum vorbei.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66928" y="3639312"/>
            <a:ext cx="8010144" cy="822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639312"/>
            <a:ext cx="41148" cy="82296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85616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20:30 sind alle wieder hier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73398"/>
            <a:ext cx="7607808" cy="270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Bringt mit: eure drei dringendsten Befunde, die Zahl der E-Bikes bei 99,5 % und den Link zu eurem Graphen.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baut ihr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19/57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MINUTEN, ALLE ZUSAMMEN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00784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0078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664208" y="1700784"/>
            <a:ext cx="6912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viele Befunde habt ihr gefunden? Welcher ist der gefährlichste und warum?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6928" y="20848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664208" y="2084832"/>
            <a:ext cx="6912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Anforderung an den Konfigurator: Welche Zahl, welcher Bezug, welches Messverfahren?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8912" y="2468880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46888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664208" y="2468880"/>
            <a:ext cx="6912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99,5 % für das Fertigungsleitsystem: Wie viele Stunden, wie viele E-Bikes? Was fehlt der Zahl?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2852928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64208" y="2852928"/>
            <a:ext cx="6912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Acht neue Server? Was bleibt im Werk, was geht in die Cloud, was wird abgeschaltet?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38912" y="3236976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3236976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64208" y="3236976"/>
            <a:ext cx="6912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 Serverraum fällt 20 Minuten der Strom aus: Was steht alles? Ein Team zeigt seinen Graphen.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362102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Offen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664208" y="3621024"/>
            <a:ext cx="6912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Dateiablage fast voll, dazu das NAS der Konstruktion: Wie viel Speicher braucht Voltrad?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66928" y="4215384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1" name="Text 19"/>
          <p:cNvSpPr/>
          <p:nvPr/>
        </p:nvSpPr>
        <p:spPr>
          <a:xfrm>
            <a:off x="749808" y="4169664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letzte Frage bleibt heute offen. Mit ihr steigen wir am Mittwoch ein.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20/57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FAECEC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B3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Lösung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Bestandsaufnahme bei Voltrad, Station für Station</a:t>
            </a:r>
            <a:endParaRPr lang="en-US" sz="13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B3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1 · DIE AUFGABE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steht da wirklich?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hattet vier Fundstücke: die alte Inventarliste (A), den Rundgang (B), Messwerte (C) und Gespräche (D).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" y="2011680"/>
            <a:ext cx="8266176" cy="34747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20116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3A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1115568" y="2011680"/>
            <a:ext cx="74615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Vergleicht die Liste A Zeile für Zeile mit B, C und D. Wo stimmt sie nicht, wo fehlt etwas?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66928" y="2359152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3A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115568" y="2359152"/>
            <a:ext cx="74615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Notiert jeden Fund: Was sagt die Liste? Was stimmt wirklich? Welches Fundstück belegt das?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8912" y="2706624"/>
            <a:ext cx="8266176" cy="34747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706624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3A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115568" y="2706624"/>
            <a:ext cx="74615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Findet mindestens sechs von neun Befunden.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66928" y="3054096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3A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115568" y="3054096"/>
            <a:ext cx="74615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Wählt die drei Befunde, die ihr zuerst angehen würdet, und begründet sie.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17" name="Text 15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 den nächsten Folien gehen wir die neun Befunde einzeln durch.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Lösung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21/57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B3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1 · ZUM NACHSCHLAGEN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Kürzel im Lageplan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loesung-kuerz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8010144" cy="2743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251960"/>
            <a:ext cx="32004" cy="256032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2062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Diese Namen tauchen auf den nächsten Folien immer wieder auf.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Lösung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22/57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B3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1 · 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Bestand laut Rundgang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loesung-rundga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8010144" cy="285292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251960"/>
            <a:ext cx="32004" cy="256032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2062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haben wir gesehen. Jetzt legen wir die Liste daneben, Befund für Befund.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Lösung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23/57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B3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1 · BEFUND 1 VON 9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neuntes Gerät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loesung-befund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8010144" cy="30723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Lösung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24/57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B3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1 · BEFUND 2 VON 9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TEST-01 läuft nicht mehr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loesung-befund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8010144" cy="30723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Lösung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25/57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B3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1 · BEFUND 3 VON 9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Broker ist umgezogen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loesung-befund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8010144" cy="30723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Lösung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26/57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B3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1 · BEFUND 4 VON 9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Datenbank ist älter als gedacht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loesung-befund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8010144" cy="30723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Lösung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27/57</a:t>
            </a:r>
            <a:endParaRPr lang="en-US" sz="10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B3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1 · BEFUND 5 VON 9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Niemand betreut WEB-01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loesung-befund-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8010144" cy="30723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Lösung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28/57</a:t>
            </a:r>
            <a:endParaRPr lang="en-US" sz="10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B3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1 · BEFUND 6 VON 9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Dateiablage ist fast voll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loesung-befund-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8010144" cy="30723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Lösung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29/57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B3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1 · BEFUND 7 VON 9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Strom und Netz fehlen in der Liste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loesung-befund-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8010144" cy="30723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Lösung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30/57</a:t>
            </a:r>
            <a:endParaRPr lang="en-US" sz="10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B3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1 · BEFUND 8 VON 9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Niemand ist zuständig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loesung-befund-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8010144" cy="30723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Lösung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31/57</a:t>
            </a:r>
            <a:endParaRPr lang="en-US" sz="10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B3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1 · BEFUND 9 VON 9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Sicherung ist nie geprüft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loesung-befund-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8010144" cy="30723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Lösung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32/57</a:t>
            </a:r>
            <a:endParaRPr lang="en-US" sz="10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B3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1 · QUELLE LESEN: LISTE UND LAGE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die Dokumente sagen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loesung-quelle-dokumen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371600"/>
            <a:ext cx="7315200" cy="2789129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288536"/>
            <a:ext cx="32004" cy="256032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242816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Liste liefert Behauptungen (grau). Den Beleg liefern die anderen Quellen.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Lösung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33/57</a:t>
            </a:r>
            <a:endParaRPr lang="en-US" sz="10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B3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1 · QUELLE MESSEN: SELBST NACHSEHEN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der Rundgang zeigt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loesung-quelle-rundga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8010144" cy="259689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Rundgang findet, was wirklich da ist. Wie wichtig es ist, sagt er nicht.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Lösung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34/57</a:t>
            </a:r>
            <a:endParaRPr lang="en-US" sz="10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B3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1 · QUELLE MESSEN: AUSLESEN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die Messwerte zeigen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loesung-quelle-messwer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371600"/>
            <a:ext cx="7315200" cy="2789129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288536"/>
            <a:ext cx="32004" cy="256032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242816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Messwerte sind genau. Sie sagen aber nicht, welches System für den Betrieb wichtig ist.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Lösung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35/57</a:t>
            </a:r>
            <a:endParaRPr lang="en-US" sz="10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B3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1 · QUELLE FRAGEN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die Gespräche verraten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loesung-quelle-gespraech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8010144" cy="259689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Gespräche erklären, warum etwas so ist und wie wichtig es ist. Achtet aber auf „glaube ich“.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Lösung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36/57</a:t>
            </a:r>
            <a:endParaRPr lang="en-US" sz="10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B3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1 · ZUSAMMENFASSUNG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 neun Befunde auf einen Blick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loesung-lagepl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371600"/>
            <a:ext cx="7406640" cy="29761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Lösung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37/57</a:t>
            </a:r>
            <a:endParaRPr lang="en-US" sz="10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B3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1 · DIE DRINGENDSTEN BEFUNDE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zuerst?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loesung-dringe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8010144" cy="26151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Lösung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38/57</a:t>
            </a:r>
            <a:endParaRPr lang="en-US" sz="10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B3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2 · TEIL A · DIE AUFGABE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Sortieren: Was ist eine Anforderung?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Ordnet jede Aussage ein: funktional (was es tun soll), nicht-funktional (wie gut), Rahmenbedingung (steht schon fest) oder keine Anforderung.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" y="2103120"/>
            <a:ext cx="8266176" cy="30175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2103120"/>
            <a:ext cx="548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33A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115568" y="2103120"/>
            <a:ext cx="746150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„Händler können im Portal rund um die Uhr Bestellungen aufgeben.“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2404872"/>
            <a:ext cx="548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33A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2404872"/>
            <a:ext cx="746150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„Der Konfigurator darf im Frühjahr nie wieder ausfallen.“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8912" y="2706624"/>
            <a:ext cx="8266176" cy="30175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706624"/>
            <a:ext cx="548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33A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115568" y="2706624"/>
            <a:ext cx="746150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„Die Fertigung muss auch laufen, wenn das Internet weg ist.“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66928" y="3008376"/>
            <a:ext cx="548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33A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115568" y="3008376"/>
            <a:ext cx="746150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„Wir kaufen einfach acht neue Server.“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8912" y="3310128"/>
            <a:ext cx="8266176" cy="30175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Text 15"/>
          <p:cNvSpPr/>
          <p:nvPr/>
        </p:nvSpPr>
        <p:spPr>
          <a:xfrm>
            <a:off x="566928" y="3310128"/>
            <a:ext cx="548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33A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310128"/>
            <a:ext cx="746150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„Die IT besteht aus zwei Personen. Nachts und am Wochenende ist niemand da.“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66928" y="3611880"/>
            <a:ext cx="548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33A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15568" y="3611880"/>
            <a:ext cx="746150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„Das Fertigungsleitsystem zeigt jedem Montageplatz den nächsten Auftrag.“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22" name="Text 20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 der nächsten Folie folgt die Lösung.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Lösung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39/57</a:t>
            </a:r>
            <a:endParaRPr lang="en-US" sz="10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B3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2 · TEIL A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Sechs Aussagen, vier Fächer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loesung-sortie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8010144" cy="2743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Lösung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40/57</a:t>
            </a:r>
            <a:endParaRPr lang="en-US" sz="10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B3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2 · TEIL B · DIE AUFGABE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Messbar machen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Schreibt die Aussagen so um, dass man sie am Ende abhaken kann: mit Zahl und Einheit, Bezug und Messverfahren.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" y="2011680"/>
            <a:ext cx="8266176" cy="34747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20116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3A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1115568" y="2011680"/>
            <a:ext cx="74615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„Der Konfigurator darf im Frühjahr nie wieder ausfallen.“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66928" y="2359152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3A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115568" y="2359152"/>
            <a:ext cx="74615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„Das Händlerportal muss schnell sein.“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8912" y="2706624"/>
            <a:ext cx="8266176" cy="34747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706624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3A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115568" y="2706624"/>
            <a:ext cx="74615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„Wenn Daten von einem ganzen Tag verloren gehen, ist das eine Katastrophe.“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15" name="Text 13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 der nächsten Folie folgt die Lösung.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Lösung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41/57</a:t>
            </a:r>
            <a:endParaRPr lang="en-US" sz="10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B3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2 · TEIL B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 Wünschen werden Anforderungen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loesung-mess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8010144" cy="2670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Lösung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42/57</a:t>
            </a:r>
            <a:endParaRPr lang="en-US" sz="10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B3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2 · TEIL C · DIE AUFGABE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Verfügbarkeit rechnen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Für das Fertigungsleitsystem steht „99,5 % Verfügbarkeit“ im Raum. Die Fertigung läuft montags bis freitags von 6 bis 22 Uhr und baut 120 E-Bikes am Tag.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" y="2194560"/>
            <a:ext cx="8266176" cy="34747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219456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3A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1115568" y="2194560"/>
            <a:ext cx="74615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viele Stunden im Jahr läuft die Fertigung? Rechnet mit 52 Wochen.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66928" y="2542032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3A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115568" y="2542032"/>
            <a:ext cx="74615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viele Stunden Ausfall erlaubt 99,5 %, bezogen auf diese Betriebszeit?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8912" y="2889504"/>
            <a:ext cx="8266176" cy="34747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889504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3A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115568" y="2889504"/>
            <a:ext cx="74615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viele E-Bikes werden in dieser Zeit nicht gebaut?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66928" y="3236976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3A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115568" y="3236976"/>
            <a:ext cx="74615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 zehn Minuten stehen die Bänder. Reicht die Zahl 99,5 % als Anforderung? Was fehlt?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17" name="Text 15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 der nächsten Folie folgt die Lösung.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Lösung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43/57</a:t>
            </a:r>
            <a:endParaRPr lang="en-US" sz="10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B3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2 · TEIL C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99,5 % für die Fertigung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loesung-verfuegbarke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8010144" cy="2743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Lösung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44/57</a:t>
            </a:r>
            <a:endParaRPr lang="en-US" sz="10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B3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3 · TEIL A · DIE AUFGABE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Wohin mit jedem System?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Entscheidet für jedes System und begründet mit einer Anforderung: im Werk erneuern, in die Cloud, als fertigen Dienst mieten (SaaS) oder abschalten.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" y="2194560"/>
            <a:ext cx="8266176" cy="31089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219456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3A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1115568" y="2194560"/>
            <a:ext cx="7461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Fertigungsleitsystem, MQTT-Broker der Prüfstände, Warenwirtschaft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66928" y="2505456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3A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115568" y="2505456"/>
            <a:ext cx="7461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Dateien: die Dateiablage FILE-01 und das NAS der Konstruktion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8912" y="2816352"/>
            <a:ext cx="8266176" cy="31089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816352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3A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115568" y="2816352"/>
            <a:ext cx="7461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Konfigurator und Händlerportal, Anmeldung und Druck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66928" y="3127248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3A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115568" y="3127248"/>
            <a:ext cx="7461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Datensicherung und das Testsystem TEST-01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38912" y="3438144"/>
            <a:ext cx="8266176" cy="31089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Text 15"/>
          <p:cNvSpPr/>
          <p:nvPr/>
        </p:nvSpPr>
        <p:spPr>
          <a:xfrm>
            <a:off x="566928" y="3438144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3A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115568" y="3438144"/>
            <a:ext cx="7461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Zum Schluss: Wie viele Server muss Voltrad noch selbst kaufen?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20" name="Text 18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 der nächsten Folie folgt die Lösung.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Lösung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45/57</a:t>
            </a:r>
            <a:endParaRPr lang="en-US" sz="10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B3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3 · TEIL A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Sollkonzept für Voltrad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loesung-so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8010144" cy="276148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Lösung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46/57</a:t>
            </a:r>
            <a:endParaRPr lang="en-US" sz="10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B3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3 · TEIL B · DIE AUFGABE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Lastenheft oder Pflichtenheft?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Lastenheft schreibt der Auftraggeber: Was wird gebraucht? Das Pflichtenheft der Auftragnehmer: Wie wird es umgesetzt? Wohin gehört jeder Satz?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" y="2194560"/>
            <a:ext cx="8266176" cy="34747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219456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33A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115568" y="2194560"/>
            <a:ext cx="74615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„Der Konfigurator muss im Frühjahr viermal so viele Besucher bedienen wie im übrigen Jahr.“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2542032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33A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2542032"/>
            <a:ext cx="74615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„Der Konfigurator läuft auf mindestens zwei Servern an zwei Standorten, ein Lastverteiler verteilt.“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8912" y="2889504"/>
            <a:ext cx="8266176" cy="34747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889504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33A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115568" y="2889504"/>
            <a:ext cx="74615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„Bei einem Ausfall der Warenwirtschaft gehen höchstens 60 Minuten Buchungen verloren.“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66928" y="3236976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33A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115568" y="3236976"/>
            <a:ext cx="74615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„Die Datenbank wird stündlich gesichert. Eine Kopie liegt außerhalb des Werks.“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17" name="Text 15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 der nächsten Folie folgt die Lösung.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Lösung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47/57</a:t>
            </a:r>
            <a:endParaRPr lang="en-US" sz="10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B3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3 · TEIL B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Lastenheft oder Pflichtenheft?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loesung-lasten-pflic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89888"/>
            <a:ext cx="8010144" cy="239572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Lösung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48/57</a:t>
            </a:r>
            <a:endParaRPr lang="en-US" sz="10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B3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4 · DIE AUFGABE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hängt woran?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habt im Mermaid Live Editor festgehalten, welches System welches andere braucht. Der Pfeil heißt immer: braucht.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" y="2103120"/>
            <a:ext cx="8266176" cy="31089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210312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3A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1115568" y="2103120"/>
            <a:ext cx="7461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 Startgraphen um Strom (USV), Hosts, Büro und Internet erweitern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66928" y="2414016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3A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115568" y="2414016"/>
            <a:ext cx="7461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Strom im Serverraum 20 Minuten weg, die USV hält 4 Minuten: Was steht?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8912" y="2724912"/>
            <a:ext cx="8266176" cy="31089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724912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3A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115568" y="2724912"/>
            <a:ext cx="7461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VH-01 fällt aus: Was steht? Können sich alle noch anmelden?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66928" y="3035808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3A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115568" y="3035808"/>
            <a:ext cx="7461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Internetleitung fällt aus: Läuft die Fertigung weiter?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38912" y="3346704"/>
            <a:ext cx="8266176" cy="31089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Text 15"/>
          <p:cNvSpPr/>
          <p:nvPr/>
        </p:nvSpPr>
        <p:spPr>
          <a:xfrm>
            <a:off x="566928" y="3346704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3A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115568" y="3346704"/>
            <a:ext cx="7461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schwachen Stellen rot markieren: Was hat keinen Ersatz?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20" name="Text 18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Erst der fertige Graph mit a und e, dann die drei Ausfälle b bis d.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Lösung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49/57</a:t>
            </a:r>
            <a:endParaRPr lang="en-US" sz="10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B3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4 · DER FERTIGE GRAPH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hängt woran?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loesung-grap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8010144" cy="272491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Lösung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50/57</a:t>
            </a:r>
            <a:endParaRPr lang="en-US" sz="10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B3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4 · TEIL C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Ausfälle, am Graphen abgelesen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loesung-ausfael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8010144" cy="26151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Lösung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51/57</a:t>
            </a:r>
            <a:endParaRPr lang="en-US" sz="10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B3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ZUSAMMENFASSUNG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ihr mitnehmt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loesung-merksaetz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8010144" cy="24688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Genau diese Kette kommt in der Prüfung: Bestand aufnehmen, Problemfelder benennen, ein Konzept begründen.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Lösung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52/57</a:t>
            </a:r>
            <a:endParaRPr lang="en-US" sz="10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PRÜFUNGSTRAINING · SITUATION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Lage: Brauerei Lindenhof GmbH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seid neu in der IT einer mittelständischen Brauerei. Lest die Lage, dann folgen die Aufgaben.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2057400"/>
            <a:ext cx="80101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00000"/>
              </a:lnSpc>
              <a:spcAft>
                <a:spcPts val="900"/>
              </a:spcAft>
              <a:buClr>
                <a:srgbClr val="3843AF"/>
              </a:buClr>
              <a:buSzPct val="100000"/>
              <a:buChar char="▸"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 Mitarbeitende, eine Abfüllanlage im Zwei-Schicht-Betrieb und ein Webshop für Getränkekisten.</a:t>
            </a:r>
            <a:endParaRPr lang="en-US" sz="1250" dirty="0"/>
          </a:p>
          <a:p>
            <a:pPr marL="254000" indent="-254000">
              <a:lnSpc>
                <a:spcPct val="100000"/>
              </a:lnSpc>
              <a:spcAft>
                <a:spcPts val="900"/>
              </a:spcAft>
              <a:buClr>
                <a:srgbClr val="3843AF"/>
              </a:buClr>
              <a:buSzPct val="100000"/>
              <a:buChar char="▸"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einzige Administrator hat gekündigt. Übrig ist eine Excel-Liste mit Servern, Stand vor zwei Jahren.</a:t>
            </a:r>
            <a:endParaRPr lang="en-US" sz="1250" dirty="0"/>
          </a:p>
          <a:p>
            <a:pPr marL="254000" indent="-254000">
              <a:lnSpc>
                <a:spcPct val="100000"/>
              </a:lnSpc>
              <a:spcAft>
                <a:spcPts val="900"/>
              </a:spcAft>
              <a:buClr>
                <a:srgbClr val="3843AF"/>
              </a:buClr>
              <a:buSzPct val="100000"/>
              <a:buChar char="▸"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Geschäftsführung sagt: „Der Webshop muss immer schnell und verfügbar sein.“</a:t>
            </a:r>
            <a:endParaRPr lang="en-US" sz="1250" dirty="0"/>
          </a:p>
          <a:p>
            <a:pPr marL="254000" indent="-254000">
              <a:lnSpc>
                <a:spcPct val="100000"/>
              </a:lnSpc>
              <a:spcAft>
                <a:spcPts val="900"/>
              </a:spcAft>
              <a:buClr>
                <a:srgbClr val="3843AF"/>
              </a:buClr>
              <a:buSzPct val="100000"/>
              <a:buChar char="▸"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sollt eine Ist-Analyse erstellen und daraus ein Sollkonzept ableiten.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Bearbeitungszeit: 20 Minuten, allein oder zu zweit, schriftlich.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Prüfungstraining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53/57</a:t>
            </a:r>
            <a:endParaRPr lang="en-US" sz="10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PRÜFUNGSTRAINING · 20 PUNKTE, 20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Aufgaben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83080"/>
            <a:ext cx="8266176" cy="47548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83080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P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1252728" y="1783080"/>
            <a:ext cx="73243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Nennen Sie drei Quellen für die Ist-Analyse und je eine Schwäche dieser Quelle.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66928" y="2258568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P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252728" y="2258568"/>
            <a:ext cx="73243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Formulieren Sie aus dem Satz der Geschäftsführung zwei messbare nicht-funktionale Anforderungen.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" y="2734056"/>
            <a:ext cx="8266176" cy="47548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734056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P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252728" y="2734056"/>
            <a:ext cx="73243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Webshop soll rund um die Uhr zu 99,8 % verfügbar sein. Berechnen Sie den erlaubten Ausfall pro Jahr in Stunden.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66928" y="320954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P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252728" y="3209544"/>
            <a:ext cx="73243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Erläutern Sie an einem Beispiel aus der Brauerei, warum eine CMDB auch die Beziehungen zwischen den Configuration Items speichert.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6" name="Text 1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Faustregel der Prüfung: etwa eine Minute und ein Gedanke je Punkt.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Prüfungstraining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54/57</a:t>
            </a:r>
            <a:endParaRPr lang="en-US" sz="105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PRÜFUNGSTRAINING · AUFGABE 1 UND 2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Lösung: Quellen und Anforderungen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600200"/>
            <a:ext cx="3895344" cy="251460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600200"/>
            <a:ext cx="41148" cy="251460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746504"/>
            <a:ext cx="3493008" cy="456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1 (je 1 P Quelle, 1 P Schwäche)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" y="2248916"/>
            <a:ext cx="3493008" cy="17470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Dokumente, zum Beispiel die Excel-Liste: veraltet, niemand hat sie gepflegt.</a:t>
            </a:r>
            <a:endParaRPr lang="en-US" sz="10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Messen, Rundgang und Monitoring: zeigt nicht, wie wichtig ein System ist.</a:t>
            </a:r>
            <a:endParaRPr lang="en-US" sz="10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Gespräche mit den Abteilungen: ungenau, oft schon Lösungswünsche statt Bedarf.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681728" y="1600200"/>
            <a:ext cx="3895344" cy="251460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Shape 8"/>
          <p:cNvSpPr/>
          <p:nvPr/>
        </p:nvSpPr>
        <p:spPr>
          <a:xfrm>
            <a:off x="4681728" y="1600200"/>
            <a:ext cx="41148" cy="251460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1" name="Text 9"/>
          <p:cNvSpPr/>
          <p:nvPr/>
        </p:nvSpPr>
        <p:spPr>
          <a:xfrm>
            <a:off x="4919472" y="1746504"/>
            <a:ext cx="3493008" cy="456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2 (je 3 P: Zahl, Bezug, Messverfahren)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919472" y="2248916"/>
            <a:ext cx="3493008" cy="17470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„Der Webshop ist rund um die Uhr zu mindestens 99,8 % im Monat erreichbar, geprüft durch einen Abruf von außen jede Minute.“</a:t>
            </a:r>
            <a:endParaRPr lang="en-US" sz="10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„Die Startseite lädt bei 300 gleichzeitigen Besuchern in höchstens 2 Sekunden, geprüft per Lasttest.“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Prüfungstraining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55/57</a:t>
            </a:r>
            <a:endParaRPr lang="en-US" sz="105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PRÜFUNGSTRAINING · AUFGABE 3 UND 4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Lösung: Verfügbarkeit und CMDB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600200"/>
            <a:ext cx="3895344" cy="251460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600200"/>
            <a:ext cx="41148" cy="251460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746504"/>
            <a:ext cx="3493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3 (3 P)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" y="2203704"/>
            <a:ext cx="3493008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Bezugszeit rund um die Uhr: 365 × 24 = 8.760 Stunden.</a:t>
            </a:r>
            <a:endParaRPr lang="en-US" sz="10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Erlaubter Ausfall: 8.760 × 0,2 % = 17,52 Stunden im Jahr.</a:t>
            </a:r>
            <a:endParaRPr lang="en-US" sz="10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Punkte für Bezugszeit, Rechenweg und Ergebnis.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681728" y="1600200"/>
            <a:ext cx="3895344" cy="251460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Shape 8"/>
          <p:cNvSpPr/>
          <p:nvPr/>
        </p:nvSpPr>
        <p:spPr>
          <a:xfrm>
            <a:off x="4681728" y="1600200"/>
            <a:ext cx="41148" cy="251460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1" name="Text 9"/>
          <p:cNvSpPr/>
          <p:nvPr/>
        </p:nvSpPr>
        <p:spPr>
          <a:xfrm>
            <a:off x="4919472" y="1746504"/>
            <a:ext cx="3493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4 (5 P)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919472" y="2203704"/>
            <a:ext cx="3493008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Liste kennt nur einzelne Einträge. Die CMDB speichert, was wovon abhängt.</a:t>
            </a:r>
            <a:endParaRPr lang="en-US" sz="10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Beispiel: Webshop braucht Datenbank, Datenbank läuft auf Host, Host hängt an der USV.</a:t>
            </a:r>
            <a:endParaRPr lang="en-US" sz="10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Fällt der Host aus, zeigt die CMDB sofort, dass auch der Webshop steht. So lassen sich Ausfälle und Änderungen bewerten.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Prüfungstraining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56/57</a:t>
            </a:r>
            <a:endParaRPr lang="en-US" sz="10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 Mittwoch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 Nächstes planen wir den Speicher für das neue Konzept: wie viel, wie sicher, wie angebunden.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6459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64592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Zum Nachlesen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624328"/>
            <a:ext cx="212140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Übung, die Theorie zu Anforderungen und Sollkonzept und acht weitere Aufgaben stehen auf der Kursseite.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6459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64592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braucht ihr von heute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624328"/>
            <a:ext cx="212140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Entscheidung je System, vor allem: Was bleibt im Werk und braucht dort Speicher?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6459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64592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 Nächstes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624328"/>
            <a:ext cx="212140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viel Speicher braucht Voltrad, wie sicher und wie angebunden? Danach folgen Ressourcen und Lizenzen.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388620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384048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Nächster Termin: Mittwoch, 14. Oktober um 18:00 Uhr.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57/57</a:t>
            </a:r>
            <a:endParaRPr lang="en-US" sz="105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5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15484"/>
            <a:ext cx="9144000" cy="128016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8288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Erst der Bestand, dann der Plan.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78892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Übung und Theorie bleiben zum Nachlesen auf der Kursseite.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6928" y="3401568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Mittwoch, 14. Oktober · Speicher planen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62</Slides>
  <Notes>62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62</vt:i4>
      </vt:variant>
    </vt:vector>
  </HeadingPairs>
  <TitlesOfParts>
    <vt:vector size="6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Vom Ist zum Soll</dc:title>
  <dc:subject>Abend 14 im Themenblock Planung, Konzeptionierung, Integration</dc:subject>
  <dc:creator>Jacob Menge</dc:creator>
  <cp:lastModifiedBy>Jacob Menge</cp:lastModifiedBy>
  <cp:revision>1</cp:revision>
  <dcterms:created xsi:type="dcterms:W3CDTF">2026-10-21T15:11:25Z</dcterms:created>
  <dcterms:modified xsi:type="dcterms:W3CDTF">2026-10-21T15:11:25Z</dcterms:modified>
</cp:coreProperties>
</file>